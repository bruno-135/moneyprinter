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287000" cx="18288000"/>
  <p:notesSz cx="10287000" cy="18288000"/>
  <p:embeddedFontLst>
    <p:embeddedFont>
      <p:font typeface="Hanken Grotesk"/>
      <p:regular r:id="rId15"/>
      <p:bold r:id="rId16"/>
      <p:italic r:id="rId17"/>
      <p:boldItalic r:id="rId18"/>
    </p:embeddedFont>
    <p:embeddedFont>
      <p:font typeface="Barlow Condensed"/>
      <p:regular r:id="rId19"/>
      <p:bold r:id="rId20"/>
      <p:italic r:id="rId21"/>
      <p:boldItalic r:id="rId22"/>
    </p:embeddedFont>
    <p:embeddedFont>
      <p:font typeface="JetBrains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Condensed-bold.fntdata"/><Relationship Id="rId22" Type="http://schemas.openxmlformats.org/officeDocument/2006/relationships/font" Target="fonts/BarlowCondensed-boldItalic.fntdata"/><Relationship Id="rId21" Type="http://schemas.openxmlformats.org/officeDocument/2006/relationships/font" Target="fonts/BarlowCondensed-italic.fntdata"/><Relationship Id="rId24" Type="http://schemas.openxmlformats.org/officeDocument/2006/relationships/font" Target="fonts/JetBrainsMono-bold.fntdata"/><Relationship Id="rId23" Type="http://schemas.openxmlformats.org/officeDocument/2006/relationships/font" Target="fonts/JetBrainsMon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JetBrainsMono-boldItalic.fntdata"/><Relationship Id="rId25" Type="http://schemas.openxmlformats.org/officeDocument/2006/relationships/font" Target="fonts/JetBrains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HankenGrotesk-regular.fntdata"/><Relationship Id="rId14" Type="http://schemas.openxmlformats.org/officeDocument/2006/relationships/slide" Target="slides/slide10.xml"/><Relationship Id="rId17" Type="http://schemas.openxmlformats.org/officeDocument/2006/relationships/font" Target="fonts/HankenGrotesk-italic.fntdata"/><Relationship Id="rId16" Type="http://schemas.openxmlformats.org/officeDocument/2006/relationships/font" Target="fonts/HankenGrotesk-bold.fntdata"/><Relationship Id="rId19" Type="http://schemas.openxmlformats.org/officeDocument/2006/relationships/font" Target="fonts/BarlowCondensed-regular.fntdata"/><Relationship Id="rId18" Type="http://schemas.openxmlformats.org/officeDocument/2006/relationships/font" Target="fonts/HankenGrotes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Abertura. Apresente-se pelo nome e diga que a VaiDesign faz sites, marca e redes sociais à medida.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Quem está por trás. Uma pessoa, sempre a mesma, do primeiro olá à entrega.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quatro princípios. Leia só os títulos; o texto fica para quem recebe a apresentação.</a:t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Primeira metade dos serviços: tudo o que tem a ver com o site e a marca.</a:t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Segunda metade: depois do site no ar, trazer pessoas até ele.</a:t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modelos. Peça ao cliente que diga qual lhe agrada mais: é o ponto de partida.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modelos são o ponto de partida, não um limite.</a:t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Quatro passos. Sublinhe que o prazo conta a partir do material entregue.</a:t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Números que se podem provar. Nenhum é de clientes nem de anos.</a:t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Fecho. Deixe o WhatsApp como próximo passo.</a:t>
            </a:r>
            <a:endParaRPr/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3.jpg"/><Relationship Id="rId5" Type="http://schemas.openxmlformats.org/officeDocument/2006/relationships/image" Target="../media/image15.jpg"/><Relationship Id="rId6" Type="http://schemas.openxmlformats.org/officeDocument/2006/relationships/image" Target="../media/image18.jpg"/><Relationship Id="rId7" Type="http://schemas.openxmlformats.org/officeDocument/2006/relationships/image" Target="../media/image9.jpg"/><Relationship Id="rId8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4.jpg"/><Relationship Id="rId5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1.jpg"/><Relationship Id="rId9" Type="http://schemas.openxmlformats.org/officeDocument/2006/relationships/image" Target="../media/image8.jpg"/><Relationship Id="rId5" Type="http://schemas.openxmlformats.org/officeDocument/2006/relationships/image" Target="../media/image7.jpg"/><Relationship Id="rId6" Type="http://schemas.openxmlformats.org/officeDocument/2006/relationships/image" Target="../media/image16.jpg"/><Relationship Id="rId7" Type="http://schemas.openxmlformats.org/officeDocument/2006/relationships/image" Target="../media/image2.jpg"/><Relationship Id="rId8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FE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906000" y="-1905000"/>
            <a:ext cx="10287000" cy="11811000"/>
          </a:xfrm>
          <a:custGeom>
            <a:rect b="b" l="l" r="r" t="t"/>
            <a:pathLst>
              <a:path extrusionOk="0" h="11811000" w="10287000">
                <a:moveTo>
                  <a:pt x="5143500" y="0"/>
                </a:moveTo>
                <a:lnTo>
                  <a:pt x="6377940" y="0"/>
                </a:lnTo>
                <a:cubicBezTo>
                  <a:pt x="7414687" y="0"/>
                  <a:pt x="8408972" y="411846"/>
                  <a:pt x="9142063" y="1144937"/>
                </a:cubicBezTo>
                <a:cubicBezTo>
                  <a:pt x="9875154" y="1878028"/>
                  <a:pt x="10287000" y="2872313"/>
                  <a:pt x="10287000" y="3909060"/>
                </a:cubicBezTo>
                <a:lnTo>
                  <a:pt x="10287000" y="7078980"/>
                </a:lnTo>
                <a:cubicBezTo>
                  <a:pt x="10287000" y="9692402"/>
                  <a:pt x="8168402" y="11811000"/>
                  <a:pt x="5554980" y="11811000"/>
                </a:cubicBezTo>
                <a:lnTo>
                  <a:pt x="5143500" y="11811000"/>
                </a:lnTo>
                <a:cubicBezTo>
                  <a:pt x="2302823" y="11811000"/>
                  <a:pt x="0" y="9508177"/>
                  <a:pt x="0" y="6667500"/>
                </a:cubicBezTo>
                <a:lnTo>
                  <a:pt x="0" y="5143500"/>
                </a:lnTo>
                <a:cubicBezTo>
                  <a:pt x="0" y="2302823"/>
                  <a:pt x="2302823" y="0"/>
                  <a:pt x="5143500" y="0"/>
                </a:cubicBezTo>
                <a:close/>
              </a:path>
            </a:pathLst>
          </a:custGeom>
          <a:solidFill>
            <a:srgbClr val="EC5B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1430000" y="5334000"/>
            <a:ext cx="7239000" cy="7239000"/>
          </a:xfrm>
          <a:prstGeom prst="ellipse">
            <a:avLst/>
          </a:prstGeom>
          <a:noFill/>
          <a:ln cap="flat" cmpd="sng" w="254000">
            <a:solidFill>
              <a:srgbClr val="F6EF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11364" r="11364" t="0"/>
          <a:stretch/>
        </p:blipFill>
        <p:spPr>
          <a:xfrm>
            <a:off x="10668000" y="1905000"/>
            <a:ext cx="6477000" cy="838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1143000" y="669206"/>
            <a:ext cx="902703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871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6300"/>
              <a:buFont typeface="Barlow Condensed"/>
              <a:buNone/>
            </a:pPr>
            <a:r>
              <a:rPr b="1" i="0" lang="en-US" sz="63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vaı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057549" y="822275"/>
            <a:ext cx="151954" cy="151954"/>
          </a:xfrm>
          <a:prstGeom prst="ellipse">
            <a:avLst/>
          </a:prstGeom>
          <a:solidFill>
            <a:srgbClr val="EC5B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051149" y="1263551"/>
            <a:ext cx="1425922" cy="2780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118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890"/>
              <a:buFont typeface="JetBrains Mono"/>
              <a:buNone/>
            </a:pPr>
            <a:r>
              <a:rPr b="0" i="0" lang="en-US" sz="1890" u="none" cap="none" strike="noStrike">
                <a:solidFill>
                  <a:srgbClr val="14121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DESIGN</a:t>
            </a:r>
            <a:endParaRPr b="0" i="0" sz="1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143000" y="2381250"/>
            <a:ext cx="9429750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765"/>
              </a:lnSpc>
              <a:spcBef>
                <a:spcPts val="0"/>
              </a:spcBef>
              <a:spcAft>
                <a:spcPts val="0"/>
              </a:spcAft>
              <a:buClr>
                <a:srgbClr val="BA4100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BA41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DESIGN E SITES À MEDIDA DO SEU NEGÓCIO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143000" y="3021211"/>
            <a:ext cx="8829675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333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1250"/>
              <a:buFont typeface="Barlow Condensed"/>
              <a:buNone/>
            </a:pPr>
            <a:r>
              <a:rPr b="1" i="0" lang="en-US" sz="1125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 SITE JÁ ESTÁ FEITO. </a:t>
            </a:r>
            <a:r>
              <a:rPr b="1" i="0" lang="en-US" sz="11250" u="none" cap="none" strike="noStrike">
                <a:solidFill>
                  <a:srgbClr val="BA41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FALTA O SEU NOME.</a:t>
            </a:r>
            <a:endParaRPr b="0" i="0" sz="1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143000" y="9220200"/>
            <a:ext cx="324884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727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5A524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APRESENTAÇÃO ·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5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7239000" cy="10287000"/>
          </a:xfrm>
          <a:prstGeom prst="rect">
            <a:avLst/>
          </a:prstGeom>
          <a:solidFill>
            <a:srgbClr val="EC5B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4545" r="4545" t="0"/>
          <a:stretch/>
        </p:blipFill>
        <p:spPr>
          <a:xfrm>
            <a:off x="762000" y="1905000"/>
            <a:ext cx="5715000" cy="838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8382000" y="2131070"/>
            <a:ext cx="9429750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765"/>
              </a:lnSpc>
              <a:spcBef>
                <a:spcPts val="0"/>
              </a:spcBef>
              <a:spcAft>
                <a:spcPts val="0"/>
              </a:spcAft>
              <a:buClr>
                <a:srgbClr val="BA4100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BA41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QUEM SOMOS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382000" y="2809131"/>
            <a:ext cx="8829675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9000"/>
              <a:buFont typeface="Barlow Condensed"/>
              <a:buNone/>
            </a:pPr>
            <a:r>
              <a:rPr b="1" i="0" lang="en-US" sz="90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FALA SEMPRE COM </a:t>
            </a:r>
            <a:r>
              <a:rPr b="1" i="0" lang="en-US" sz="9000" u="none" cap="none" strike="noStrike">
                <a:solidFill>
                  <a:srgbClr val="BA41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 MESMA PESSOA.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382000" y="5247531"/>
            <a:ext cx="8829675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2550"/>
              <a:buFont typeface="Hanken Grotesk"/>
              <a:buNone/>
            </a:pPr>
            <a:r>
              <a:rPr b="0" i="0" lang="en-US" sz="255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Por trás da VaiDesign está Bruno Dias, empenhado em ajudá-lo a atingir os seus objetivos. É quem lê as mensagens, desenha os sites e os põe no ar. Não há gestor de conta nem passagem de testemunho.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382000" y="7571631"/>
            <a:ext cx="8572500" cy="12700"/>
          </a:xfrm>
          <a:prstGeom prst="rect">
            <a:avLst/>
          </a:prstGeom>
          <a:solidFill>
            <a:srgbClr val="1412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382000" y="7889081"/>
            <a:ext cx="215607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600"/>
              <a:buFont typeface="Barlow Condensed"/>
              <a:buNone/>
            </a:pPr>
            <a:r>
              <a:rPr b="1" i="0" lang="en-US" sz="36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BRUNO DIAS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570666" y="8003381"/>
            <a:ext cx="341992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727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5A524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FUNDADOR · VAIDESIGN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1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13525500" y="-2857500"/>
            <a:ext cx="7239000" cy="7239000"/>
          </a:xfrm>
          <a:custGeom>
            <a:rect b="b" l="l" r="r" t="t"/>
            <a:pathLst>
              <a:path extrusionOk="0" h="7239000" w="7239000">
                <a:moveTo>
                  <a:pt x="3619500" y="0"/>
                </a:moveTo>
                <a:lnTo>
                  <a:pt x="4488180" y="0"/>
                </a:lnTo>
                <a:cubicBezTo>
                  <a:pt x="5217743" y="0"/>
                  <a:pt x="5917425" y="289818"/>
                  <a:pt x="6433303" y="805697"/>
                </a:cubicBezTo>
                <a:cubicBezTo>
                  <a:pt x="6949182" y="1321575"/>
                  <a:pt x="7239000" y="2021257"/>
                  <a:pt x="7239000" y="2750820"/>
                </a:cubicBezTo>
                <a:lnTo>
                  <a:pt x="7239000" y="3909060"/>
                </a:lnTo>
                <a:cubicBezTo>
                  <a:pt x="7239000" y="5748135"/>
                  <a:pt x="5748135" y="7239000"/>
                  <a:pt x="3909060" y="7239000"/>
                </a:cubicBezTo>
                <a:lnTo>
                  <a:pt x="3619500" y="7239000"/>
                </a:lnTo>
                <a:cubicBezTo>
                  <a:pt x="1620505" y="7239000"/>
                  <a:pt x="0" y="5618495"/>
                  <a:pt x="0" y="3619500"/>
                </a:cubicBezTo>
                <a:lnTo>
                  <a:pt x="0" y="3619500"/>
                </a:lnTo>
                <a:cubicBezTo>
                  <a:pt x="0" y="1620505"/>
                  <a:pt x="1620505" y="0"/>
                  <a:pt x="3619500" y="0"/>
                </a:cubicBezTo>
                <a:close/>
              </a:path>
            </a:pathLst>
          </a:custGeom>
          <a:solidFill>
            <a:srgbClr val="EC5B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1143000" y="1143000"/>
            <a:ext cx="17602200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765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EC5B13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COMO PENSAMOS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143000" y="1706761"/>
            <a:ext cx="11772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9000"/>
              <a:buFont typeface="Barlow Condensed"/>
              <a:buNone/>
            </a:pPr>
            <a:r>
              <a:rPr b="1" i="0" lang="en-US" sz="9000" u="none" cap="none" strike="noStrike">
                <a:solidFill>
                  <a:srgbClr val="F6EFE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UM SITE BONITO QUE TAMBÉM TRABALHA.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143000" y="6732389"/>
            <a:ext cx="12700" cy="2411611"/>
          </a:xfrm>
          <a:prstGeom prst="rect">
            <a:avLst/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1536650" y="6732389"/>
            <a:ext cx="354843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5400"/>
              <a:buFont typeface="Barlow Condensed"/>
              <a:buNone/>
            </a:pPr>
            <a:r>
              <a:rPr b="1" i="0" lang="en-US" sz="540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536650" y="7589639"/>
            <a:ext cx="3322625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811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2100"/>
              <a:buFont typeface="Hanken Grotesk"/>
              <a:buNone/>
            </a:pPr>
            <a:r>
              <a:rPr b="1" i="0" lang="en-US" sz="2100" u="none" cap="none" strike="noStrike">
                <a:solidFill>
                  <a:srgbClr val="F6EFE4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FEITO PARA O SEU RAMO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536650" y="8401050"/>
            <a:ext cx="33226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BDB3A6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BDB3A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Parte-se do que já funciona no seu tipo de negócio.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143500" y="6732389"/>
            <a:ext cx="12700" cy="2411611"/>
          </a:xfrm>
          <a:prstGeom prst="rect">
            <a:avLst/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5537150" y="6732389"/>
            <a:ext cx="354843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5400"/>
              <a:buFont typeface="Barlow Condensed"/>
              <a:buNone/>
            </a:pPr>
            <a:r>
              <a:rPr b="1" i="0" lang="en-US" sz="540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537150" y="7589639"/>
            <a:ext cx="3322625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811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2100"/>
              <a:buFont typeface="Hanken Grotesk"/>
              <a:buNone/>
            </a:pPr>
            <a:r>
              <a:rPr b="1" i="0" lang="en-US" sz="2100" u="none" cap="none" strike="noStrike">
                <a:solidFill>
                  <a:srgbClr val="F6EFE4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TEXTO ESCRITO CONSIGO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537150" y="8401050"/>
            <a:ext cx="33226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BDB3A6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BDB3A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As palavras pensadas para quem as vai ler.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9144000" y="6732389"/>
            <a:ext cx="12700" cy="2411611"/>
          </a:xfrm>
          <a:prstGeom prst="rect">
            <a:avLst/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9537650" y="6732389"/>
            <a:ext cx="354843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5400"/>
              <a:buFont typeface="Barlow Condensed"/>
              <a:buNone/>
            </a:pPr>
            <a:r>
              <a:rPr b="1" i="0" lang="en-US" sz="540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537650" y="7589639"/>
            <a:ext cx="3322625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811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2100"/>
              <a:buFont typeface="Hanken Grotesk"/>
              <a:buNone/>
            </a:pPr>
            <a:r>
              <a:rPr b="1" i="0" lang="en-US" sz="2100" u="none" cap="none" strike="noStrike">
                <a:solidFill>
                  <a:srgbClr val="F6EFE4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PRIMEIRO NO TELEMÓVEL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537650" y="8401050"/>
            <a:ext cx="33226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BDB3A6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BDB3A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Desenhado para o ecrã onde os clientes o abrem.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3144500" y="6732389"/>
            <a:ext cx="12700" cy="2411611"/>
          </a:xfrm>
          <a:prstGeom prst="rect">
            <a:avLst/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13538150" y="6732389"/>
            <a:ext cx="354843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5400"/>
              <a:buFont typeface="Barlow Condensed"/>
              <a:buNone/>
            </a:pPr>
            <a:r>
              <a:rPr b="1" i="0" lang="en-US" sz="540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3538150" y="7589639"/>
            <a:ext cx="3548435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811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2100"/>
              <a:buFont typeface="Hanken Grotesk"/>
              <a:buNone/>
            </a:pPr>
            <a:r>
              <a:rPr b="1" i="0" lang="en-US" sz="2100" u="none" cap="none" strike="noStrike">
                <a:solidFill>
                  <a:srgbClr val="F6EFE4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TUDO POR WHATSAPP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3538150" y="8081070"/>
            <a:ext cx="33226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BDB3A6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BDB3A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Dúvidas e aprovações na mesma conversa.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FE4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1143000" y="914400"/>
            <a:ext cx="5909310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765"/>
              </a:lnSpc>
              <a:spcBef>
                <a:spcPts val="0"/>
              </a:spcBef>
              <a:spcAft>
                <a:spcPts val="0"/>
              </a:spcAft>
              <a:buClr>
                <a:srgbClr val="BA4100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BA41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 QUE FAZEMOS · 1 DE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143000" y="1401961"/>
            <a:ext cx="5909310" cy="929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880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7800"/>
              <a:buFont typeface="Barlow Condensed"/>
              <a:buNone/>
            </a:pPr>
            <a:r>
              <a:rPr b="1" i="0" lang="en-US" sz="78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SITES E MARCA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5589895" y="921841"/>
            <a:ext cx="1710616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13500"/>
              <a:buFont typeface="Barlow Condensed"/>
              <a:buNone/>
            </a:pPr>
            <a:r>
              <a:rPr b="1" i="0" lang="en-US" sz="1350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06</a:t>
            </a:r>
            <a:endParaRPr b="0" i="0" sz="1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143000" y="2750641"/>
            <a:ext cx="5156150" cy="3177629"/>
          </a:xfrm>
          <a:prstGeom prst="roundRect">
            <a:avLst>
              <a:gd fmla="val 3597" name="adj"/>
            </a:avLst>
          </a:prstGeom>
          <a:solidFill>
            <a:srgbClr val="FFFBF5"/>
          </a:solidFill>
          <a:ln cap="flat" cmpd="sng" w="12700">
            <a:solidFill>
              <a:srgbClr val="DDD2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6"/>
          <p:cNvPicPr preferRelativeResize="0"/>
          <p:nvPr/>
        </p:nvPicPr>
        <p:blipFill rotWithShape="1">
          <a:blip r:embed="rId3">
            <a:alphaModFix/>
          </a:blip>
          <a:srcRect b="0" l="27842" r="27842" t="0"/>
          <a:stretch/>
        </p:blipFill>
        <p:spPr>
          <a:xfrm>
            <a:off x="1155650" y="2763292"/>
            <a:ext cx="2095500" cy="315232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/>
          <p:nvPr/>
        </p:nvSpPr>
        <p:spPr>
          <a:xfrm>
            <a:off x="3517850" y="3029992"/>
            <a:ext cx="275214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SITE DE NEGÓCIO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517850" y="3525292"/>
            <a:ext cx="2578150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Quem é, o que faz, onde está e como se fala consigo.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565850" y="2750641"/>
            <a:ext cx="5156150" cy="3177629"/>
          </a:xfrm>
          <a:prstGeom prst="roundRect">
            <a:avLst>
              <a:gd fmla="val 3597" name="adj"/>
            </a:avLst>
          </a:prstGeom>
          <a:solidFill>
            <a:srgbClr val="FFFBF5"/>
          </a:solidFill>
          <a:ln cap="flat" cmpd="sng" w="12700">
            <a:solidFill>
              <a:srgbClr val="DDD2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6"/>
          <p:cNvPicPr preferRelativeResize="0"/>
          <p:nvPr/>
        </p:nvPicPr>
        <p:blipFill rotWithShape="1">
          <a:blip r:embed="rId4">
            <a:alphaModFix/>
          </a:blip>
          <a:srcRect b="0" l="27842" r="27842" t="0"/>
          <a:stretch/>
        </p:blipFill>
        <p:spPr>
          <a:xfrm>
            <a:off x="6578501" y="2763292"/>
            <a:ext cx="2095500" cy="315232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/>
          <p:nvPr/>
        </p:nvSpPr>
        <p:spPr>
          <a:xfrm>
            <a:off x="8940701" y="3029992"/>
            <a:ext cx="275214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PÁGINA PESSOAL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8940701" y="3525292"/>
            <a:ext cx="2578150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Para quem trabalha sozinho e é o produto.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1988701" y="2750641"/>
            <a:ext cx="5156299" cy="3177629"/>
          </a:xfrm>
          <a:prstGeom prst="roundRect">
            <a:avLst>
              <a:gd fmla="val 3597" name="adj"/>
            </a:avLst>
          </a:prstGeom>
          <a:solidFill>
            <a:srgbClr val="FFFBF5"/>
          </a:solidFill>
          <a:ln cap="flat" cmpd="sng" w="12700">
            <a:solidFill>
              <a:srgbClr val="DDD2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6"/>
          <p:cNvPicPr preferRelativeResize="0"/>
          <p:nvPr/>
        </p:nvPicPr>
        <p:blipFill rotWithShape="1">
          <a:blip r:embed="rId5">
            <a:alphaModFix/>
          </a:blip>
          <a:srcRect b="0" l="27831" r="27831" t="0"/>
          <a:stretch/>
        </p:blipFill>
        <p:spPr>
          <a:xfrm>
            <a:off x="12001351" y="2763292"/>
            <a:ext cx="2095500" cy="315232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14363551" y="3029992"/>
            <a:ext cx="275230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LOJA ONLINE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4363551" y="3525292"/>
            <a:ext cx="2578298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Catálogo com preços e encomenda por WhatsApp.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143000" y="6194971"/>
            <a:ext cx="5156150" cy="3177629"/>
          </a:xfrm>
          <a:prstGeom prst="roundRect">
            <a:avLst>
              <a:gd fmla="val 3597" name="adj"/>
            </a:avLst>
          </a:prstGeom>
          <a:solidFill>
            <a:srgbClr val="FFFBF5"/>
          </a:solidFill>
          <a:ln cap="flat" cmpd="sng" w="12700">
            <a:solidFill>
              <a:srgbClr val="DDD2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6"/>
          <p:cNvPicPr preferRelativeResize="0"/>
          <p:nvPr/>
        </p:nvPicPr>
        <p:blipFill rotWithShape="1">
          <a:blip r:embed="rId6">
            <a:alphaModFix/>
          </a:blip>
          <a:srcRect b="0" l="27831" r="27831" t="0"/>
          <a:stretch/>
        </p:blipFill>
        <p:spPr>
          <a:xfrm>
            <a:off x="1155650" y="6207621"/>
            <a:ext cx="2095500" cy="315232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3517850" y="6474321"/>
            <a:ext cx="25781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LOGÓTIPO E IDENTIDADE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517850" y="7350621"/>
            <a:ext cx="2578150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Nome, cores e letra, prontos para tudo.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565850" y="6194971"/>
            <a:ext cx="5156150" cy="3177629"/>
          </a:xfrm>
          <a:prstGeom prst="roundRect">
            <a:avLst>
              <a:gd fmla="val 3597" name="adj"/>
            </a:avLst>
          </a:prstGeom>
          <a:solidFill>
            <a:srgbClr val="FFFBF5"/>
          </a:solidFill>
          <a:ln cap="flat" cmpd="sng" w="12700">
            <a:solidFill>
              <a:srgbClr val="DDD2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6"/>
          <p:cNvPicPr preferRelativeResize="0"/>
          <p:nvPr/>
        </p:nvPicPr>
        <p:blipFill rotWithShape="1">
          <a:blip r:embed="rId7">
            <a:alphaModFix/>
          </a:blip>
          <a:srcRect b="0" l="27842" r="27842" t="0"/>
          <a:stretch/>
        </p:blipFill>
        <p:spPr>
          <a:xfrm>
            <a:off x="6578501" y="6207621"/>
            <a:ext cx="2095500" cy="315232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8940701" y="6474321"/>
            <a:ext cx="25781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PÁGINA DE VENDAS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8940701" y="7350621"/>
            <a:ext cx="2578150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Uma página só, feita para um botão.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1988701" y="6194971"/>
            <a:ext cx="5156299" cy="3177629"/>
          </a:xfrm>
          <a:prstGeom prst="roundRect">
            <a:avLst>
              <a:gd fmla="val 3597" name="adj"/>
            </a:avLst>
          </a:prstGeom>
          <a:solidFill>
            <a:srgbClr val="FFFBF5"/>
          </a:solidFill>
          <a:ln cap="flat" cmpd="sng" w="12700">
            <a:solidFill>
              <a:srgbClr val="DDD2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8">
            <a:alphaModFix/>
          </a:blip>
          <a:srcRect b="0" l="27853" r="27853" t="0"/>
          <a:stretch/>
        </p:blipFill>
        <p:spPr>
          <a:xfrm>
            <a:off x="12001351" y="6207621"/>
            <a:ext cx="2095500" cy="315232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14363551" y="6474321"/>
            <a:ext cx="275230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SEO LOCAL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4363551" y="6969621"/>
            <a:ext cx="2578298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Aparecer no Google, na sua zona.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5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1143000" y="914400"/>
            <a:ext cx="7414141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765"/>
              </a:lnSpc>
              <a:spcBef>
                <a:spcPts val="0"/>
              </a:spcBef>
              <a:spcAft>
                <a:spcPts val="0"/>
              </a:spcAft>
              <a:buClr>
                <a:srgbClr val="BA4100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BA41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 QUE FAZEMOS · 2 DE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143000" y="1401961"/>
            <a:ext cx="7414141" cy="929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880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7800"/>
              <a:buFont typeface="Barlow Condensed"/>
              <a:buNone/>
            </a:pPr>
            <a:r>
              <a:rPr b="1" i="0" lang="en-US" sz="78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REDES E ANÚNCIOS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5598378" y="921841"/>
            <a:ext cx="1701284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13500"/>
              <a:buFont typeface="Barlow Condensed"/>
              <a:buNone/>
            </a:pPr>
            <a:r>
              <a:rPr b="1" i="0" lang="en-US" sz="1350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b="0" i="0" sz="1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143000" y="2750641"/>
            <a:ext cx="5156150" cy="6621959"/>
          </a:xfrm>
          <a:prstGeom prst="roundRect">
            <a:avLst>
              <a:gd fmla="val 2217" name="adj"/>
            </a:avLst>
          </a:pr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2515" r="2515" t="0"/>
          <a:stretch/>
        </p:blipFill>
        <p:spPr>
          <a:xfrm>
            <a:off x="1143000" y="2750641"/>
            <a:ext cx="51561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/>
        </p:nvSpPr>
        <p:spPr>
          <a:xfrm>
            <a:off x="1485900" y="6713041"/>
            <a:ext cx="4604461" cy="9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413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900"/>
              <a:buFont typeface="Barlow Condensed"/>
              <a:buNone/>
            </a:pPr>
            <a:r>
              <a:rPr b="1" i="0" lang="en-US" sz="39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GESTÃO DE REDES SOCIAIS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485900" y="7806333"/>
            <a:ext cx="4604461" cy="7560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882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Instagram e Facebook todos os meses: calendário, publicações e respostas.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565850" y="2750641"/>
            <a:ext cx="5156150" cy="6621959"/>
          </a:xfrm>
          <a:prstGeom prst="roundRect">
            <a:avLst>
              <a:gd fmla="val 2217" name="adj"/>
            </a:avLst>
          </a:pr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7"/>
          <p:cNvPicPr preferRelativeResize="0"/>
          <p:nvPr/>
        </p:nvPicPr>
        <p:blipFill rotWithShape="1">
          <a:blip r:embed="rId4">
            <a:alphaModFix/>
          </a:blip>
          <a:srcRect b="0" l="2515" r="2515" t="0"/>
          <a:stretch/>
        </p:blipFill>
        <p:spPr>
          <a:xfrm>
            <a:off x="6565850" y="2750641"/>
            <a:ext cx="51561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6908750" y="6713041"/>
            <a:ext cx="4917385" cy="5085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413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900"/>
              <a:buFont typeface="Barlow Condensed"/>
              <a:buNone/>
            </a:pPr>
            <a:r>
              <a:rPr b="1" i="0" lang="en-US" sz="39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CRIAÇÃO DE CONTEÚDOS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908750" y="7335887"/>
            <a:ext cx="4604461" cy="7560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882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Posts, carrosséis e vídeos curtos com a cara do seu negócio.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1988701" y="2750641"/>
            <a:ext cx="5156299" cy="6621959"/>
          </a:xfrm>
          <a:prstGeom prst="roundRect">
            <a:avLst>
              <a:gd fmla="val 2217" name="adj"/>
            </a:avLst>
          </a:pr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7"/>
          <p:cNvPicPr preferRelativeResize="0"/>
          <p:nvPr/>
        </p:nvPicPr>
        <p:blipFill rotWithShape="1">
          <a:blip r:embed="rId5">
            <a:alphaModFix/>
          </a:blip>
          <a:srcRect b="0" l="2481" r="2481" t="0"/>
          <a:stretch/>
        </p:blipFill>
        <p:spPr>
          <a:xfrm>
            <a:off x="11988701" y="2750641"/>
            <a:ext cx="5156299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12331601" y="6713041"/>
            <a:ext cx="4917549" cy="5085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413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900"/>
              <a:buFont typeface="Barlow Condensed"/>
              <a:buNone/>
            </a:pPr>
            <a:r>
              <a:rPr b="1" i="0" lang="en-US" sz="39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ANÚNCIOS PAGOS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2331601" y="7335887"/>
            <a:ext cx="4604614" cy="7560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882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Meta, Google, YouTube, TikTok e LinkedIn, com o orçamento que definir.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1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1143000" y="914400"/>
            <a:ext cx="17602200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765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EC5B13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OS NOSSOS MODELOS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143000" y="1401961"/>
            <a:ext cx="16482060" cy="1924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8250"/>
              <a:buFont typeface="Barlow Condensed"/>
              <a:buNone/>
            </a:pPr>
            <a:r>
              <a:rPr b="1" i="0" lang="en-US" sz="8250" u="none" cap="none" strike="noStrike">
                <a:solidFill>
                  <a:srgbClr val="F6EFE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TEMOS O SITE CERTO </a:t>
            </a:r>
            <a:r>
              <a:rPr b="1" i="0" lang="en-US" sz="825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PARA O SEU NEGÓCIO.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143000" y="3821311"/>
            <a:ext cx="2209800" cy="2762250"/>
          </a:xfrm>
          <a:prstGeom prst="roundRect">
            <a:avLst>
              <a:gd fmla="val 5172" name="adj"/>
            </a:avLst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8"/>
          <p:cNvPicPr preferRelativeResize="0"/>
          <p:nvPr/>
        </p:nvPicPr>
        <p:blipFill rotWithShape="1">
          <a:blip r:embed="rId3">
            <a:alphaModFix/>
          </a:blip>
          <a:srcRect b="29670" l="0" r="0" t="0"/>
          <a:stretch/>
        </p:blipFill>
        <p:spPr>
          <a:xfrm>
            <a:off x="1143000" y="3821311"/>
            <a:ext cx="22098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/>
          <p:nvPr/>
        </p:nvSpPr>
        <p:spPr>
          <a:xfrm>
            <a:off x="1143000" y="6755011"/>
            <a:ext cx="24307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609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2850"/>
              <a:buFont typeface="Barlow Condensed"/>
              <a:buNone/>
            </a:pPr>
            <a:r>
              <a:rPr b="1" i="0" lang="en-US" sz="2850" u="none" cap="none" strike="noStrike">
                <a:solidFill>
                  <a:srgbClr val="F6EFE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FORNO &amp; BRASA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143000" y="7174111"/>
            <a:ext cx="2286000" cy="632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BDB3A6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BDB3A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Padarias e restaurantes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3581400" y="3821311"/>
            <a:ext cx="2209800" cy="2762250"/>
          </a:xfrm>
          <a:prstGeom prst="roundRect">
            <a:avLst>
              <a:gd fmla="val 5172" name="adj"/>
            </a:avLst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8"/>
          <p:cNvPicPr preferRelativeResize="0"/>
          <p:nvPr/>
        </p:nvPicPr>
        <p:blipFill rotWithShape="1">
          <a:blip r:embed="rId4">
            <a:alphaModFix/>
          </a:blip>
          <a:srcRect b="29664" l="0" r="0" t="0"/>
          <a:stretch/>
        </p:blipFill>
        <p:spPr>
          <a:xfrm>
            <a:off x="3581400" y="3821311"/>
            <a:ext cx="22098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8"/>
          <p:cNvSpPr/>
          <p:nvPr/>
        </p:nvSpPr>
        <p:spPr>
          <a:xfrm>
            <a:off x="3581400" y="6755011"/>
            <a:ext cx="24307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609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2850"/>
              <a:buFont typeface="Barlow Condensed"/>
              <a:buNone/>
            </a:pPr>
            <a:r>
              <a:rPr b="1" i="0" lang="en-US" sz="2850" u="none" cap="none" strike="noStrike">
                <a:solidFill>
                  <a:srgbClr val="F6EFE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CLÍNICA VALE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3581400" y="7174111"/>
            <a:ext cx="2430780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BDB3A6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BDB3A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Clínicas e estética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019800" y="3821311"/>
            <a:ext cx="2209800" cy="2762250"/>
          </a:xfrm>
          <a:prstGeom prst="roundRect">
            <a:avLst>
              <a:gd fmla="val 5172" name="adj"/>
            </a:avLst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9800" y="3821311"/>
            <a:ext cx="22098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/>
          <p:nvPr/>
        </p:nvSpPr>
        <p:spPr>
          <a:xfrm>
            <a:off x="6019800" y="6755011"/>
            <a:ext cx="24307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609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2850"/>
              <a:buFont typeface="Barlow Condensed"/>
              <a:buNone/>
            </a:pPr>
            <a:r>
              <a:rPr b="1" i="0" lang="en-US" sz="2850" u="none" cap="none" strike="noStrike">
                <a:solidFill>
                  <a:srgbClr val="F6EFE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PREDIAL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6019800" y="7174111"/>
            <a:ext cx="2286000" cy="632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BDB3A6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BDB3A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Imobiliárias e advogados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8458200" y="3821311"/>
            <a:ext cx="2209800" cy="2762250"/>
          </a:xfrm>
          <a:prstGeom prst="roundRect">
            <a:avLst>
              <a:gd fmla="val 5172" name="adj"/>
            </a:avLst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8"/>
          <p:cNvPicPr preferRelativeResize="0"/>
          <p:nvPr/>
        </p:nvPicPr>
        <p:blipFill rotWithShape="1">
          <a:blip r:embed="rId6">
            <a:alphaModFix/>
          </a:blip>
          <a:srcRect b="29650" l="0" r="0" t="0"/>
          <a:stretch/>
        </p:blipFill>
        <p:spPr>
          <a:xfrm>
            <a:off x="8458200" y="3821311"/>
            <a:ext cx="22098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/>
          <p:nvPr/>
        </p:nvSpPr>
        <p:spPr>
          <a:xfrm>
            <a:off x="8458200" y="6755011"/>
            <a:ext cx="24307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609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2850"/>
              <a:buFont typeface="Barlow Condensed"/>
              <a:buNone/>
            </a:pPr>
            <a:r>
              <a:rPr b="1" i="0" lang="en-US" sz="2850" u="none" cap="none" strike="noStrike">
                <a:solidFill>
                  <a:srgbClr val="F6EFE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RETRATO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8458200" y="7174111"/>
            <a:ext cx="2286000" cy="632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BDB3A6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BDB3A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Quem trabalha sozinho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0896600" y="3821311"/>
            <a:ext cx="2209800" cy="2762250"/>
          </a:xfrm>
          <a:prstGeom prst="roundRect">
            <a:avLst>
              <a:gd fmla="val 5172" name="adj"/>
            </a:avLst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8"/>
          <p:cNvPicPr preferRelativeResize="0"/>
          <p:nvPr/>
        </p:nvPicPr>
        <p:blipFill rotWithShape="1">
          <a:blip r:embed="rId7">
            <a:alphaModFix/>
          </a:blip>
          <a:srcRect b="37500" l="0" r="0" t="0"/>
          <a:stretch/>
        </p:blipFill>
        <p:spPr>
          <a:xfrm>
            <a:off x="10896600" y="3821311"/>
            <a:ext cx="22098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/>
          <p:nvPr/>
        </p:nvSpPr>
        <p:spPr>
          <a:xfrm>
            <a:off x="10896600" y="6755011"/>
            <a:ext cx="24307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609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2850"/>
              <a:buFont typeface="Barlow Condensed"/>
              <a:buNone/>
            </a:pPr>
            <a:r>
              <a:rPr b="1" i="0" lang="en-US" sz="2850" u="none" cap="none" strike="noStrike">
                <a:solidFill>
                  <a:srgbClr val="F6EFE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OFICINA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10896600" y="7174111"/>
            <a:ext cx="2430780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BDB3A6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BDB3A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Fábricas e B2B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3335000" y="3821311"/>
            <a:ext cx="2209800" cy="2762250"/>
          </a:xfrm>
          <a:prstGeom prst="roundRect">
            <a:avLst>
              <a:gd fmla="val 5172" name="adj"/>
            </a:avLst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8"/>
          <p:cNvPicPr preferRelativeResize="0"/>
          <p:nvPr/>
        </p:nvPicPr>
        <p:blipFill rotWithShape="1">
          <a:blip r:embed="rId8">
            <a:alphaModFix/>
          </a:blip>
          <a:srcRect b="0" l="20000" r="20000" t="0"/>
          <a:stretch/>
        </p:blipFill>
        <p:spPr>
          <a:xfrm>
            <a:off x="13335000" y="3821311"/>
            <a:ext cx="22098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13335000" y="6755011"/>
            <a:ext cx="24307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609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2850"/>
              <a:buFont typeface="Barlow Condensed"/>
              <a:buNone/>
            </a:pPr>
            <a:r>
              <a:rPr b="1" i="0" lang="en-US" sz="2850" u="none" cap="none" strike="noStrike">
                <a:solidFill>
                  <a:srgbClr val="F6EFE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ESTRADA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3335000" y="7174111"/>
            <a:ext cx="2430780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BDB3A6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BDB3A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Transportes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15773400" y="3821311"/>
            <a:ext cx="2209800" cy="2762250"/>
          </a:xfrm>
          <a:prstGeom prst="roundRect">
            <a:avLst>
              <a:gd fmla="val 5172" name="adj"/>
            </a:avLst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8"/>
          <p:cNvPicPr preferRelativeResize="0"/>
          <p:nvPr/>
        </p:nvPicPr>
        <p:blipFill rotWithShape="1">
          <a:blip r:embed="rId9">
            <a:alphaModFix/>
          </a:blip>
          <a:srcRect b="16667" l="0" r="0" t="0"/>
          <a:stretch/>
        </p:blipFill>
        <p:spPr>
          <a:xfrm>
            <a:off x="15773400" y="3821311"/>
            <a:ext cx="22098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15773400" y="6755011"/>
            <a:ext cx="24307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609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2850"/>
              <a:buFont typeface="Barlow Condensed"/>
              <a:buNone/>
            </a:pPr>
            <a:r>
              <a:rPr b="1" i="0" lang="en-US" sz="2850" u="none" cap="none" strike="noStrike">
                <a:solidFill>
                  <a:srgbClr val="F6EFE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NEON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5773400" y="7174111"/>
            <a:ext cx="2430780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Clr>
                <a:srgbClr val="BDB3A6"/>
              </a:buClr>
              <a:buSzPts val="1800"/>
              <a:buFont typeface="Hanken Grotesk"/>
              <a:buNone/>
            </a:pPr>
            <a:r>
              <a:rPr b="0" i="0" lang="en-US" sz="1800" u="none" cap="none" strike="noStrike">
                <a:solidFill>
                  <a:srgbClr val="BDB3A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Lojas de roupa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5B1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1143000" y="2628007"/>
            <a:ext cx="9052560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765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 SE NENHUM SERVIR?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143000" y="3306068"/>
            <a:ext cx="8476488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333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1250"/>
              <a:buFont typeface="Barlow Condensed"/>
              <a:buNone/>
            </a:pPr>
            <a:r>
              <a:rPr b="1" i="0" lang="en-US" sz="1125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FAZEMOS UM À SUA MEDIDA.</a:t>
            </a:r>
            <a:endParaRPr b="0" i="0" sz="1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143000" y="6201668"/>
            <a:ext cx="8476488" cy="1495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2550"/>
              <a:buFont typeface="Hanken Grotesk"/>
              <a:buNone/>
            </a:pPr>
            <a:r>
              <a:rPr b="0" i="0" lang="en-US" sz="255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Os modelos são só o ponto de partida. Temos muitas mais opções e desenhamos o site a partir do que o seu negócio precisa — do zero, se for esse o caminho.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 rot="-359998">
            <a:off x="10287000" y="2286000"/>
            <a:ext cx="3810000" cy="4762500"/>
          </a:xfrm>
          <a:prstGeom prst="roundRect">
            <a:avLst>
              <a:gd fmla="val 3000" name="adj"/>
            </a:avLst>
          </a:prstGeom>
          <a:noFill/>
          <a:ln cap="flat" cmpd="sng" w="76200">
            <a:solidFill>
              <a:srgbClr val="F6EF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9"/>
          <p:cNvPicPr preferRelativeResize="0"/>
          <p:nvPr/>
        </p:nvPicPr>
        <p:blipFill rotWithShape="1">
          <a:blip r:embed="rId3">
            <a:alphaModFix/>
          </a:blip>
          <a:srcRect b="29650" l="0" r="0" t="0"/>
          <a:stretch/>
        </p:blipFill>
        <p:spPr>
          <a:xfrm rot="-359998">
            <a:off x="10287000" y="2286000"/>
            <a:ext cx="3810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 rot="300001">
            <a:off x="13334999" y="3428999"/>
            <a:ext cx="3810001" cy="4762502"/>
          </a:xfrm>
          <a:prstGeom prst="roundRect">
            <a:avLst>
              <a:gd fmla="val 3000" name="adj"/>
            </a:avLst>
          </a:prstGeom>
          <a:noFill/>
          <a:ln cap="flat" cmpd="sng" w="76200">
            <a:solidFill>
              <a:srgbClr val="F6EF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9"/>
          <p:cNvPicPr preferRelativeResize="0"/>
          <p:nvPr/>
        </p:nvPicPr>
        <p:blipFill rotWithShape="1">
          <a:blip r:embed="rId4">
            <a:alphaModFix/>
          </a:blip>
          <a:srcRect b="16667" l="0" r="0" t="0"/>
          <a:stretch/>
        </p:blipFill>
        <p:spPr>
          <a:xfrm rot="300001">
            <a:off x="13334999" y="3428999"/>
            <a:ext cx="3810001" cy="47625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 rot="-599999">
            <a:off x="12477750" y="1333500"/>
            <a:ext cx="2476501" cy="2476501"/>
          </a:xfrm>
          <a:prstGeom prst="ellipse">
            <a:avLst/>
          </a:prstGeom>
          <a:solidFill>
            <a:srgbClr val="1412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13098740" y="1800761"/>
            <a:ext cx="1116104" cy="9085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4851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6300"/>
              <a:buFont typeface="Barlow Condensed"/>
              <a:buNone/>
            </a:pPr>
            <a:r>
              <a:rPr b="1" i="0" lang="en-US" sz="630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0 €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2979150" y="2593986"/>
            <a:ext cx="1621742" cy="8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1800"/>
              <a:buFont typeface="Hanken Grotesk"/>
              <a:buNone/>
            </a:pPr>
            <a:r>
              <a:rPr b="1" i="0" lang="en-US" sz="1800" u="none" cap="none" strike="noStrike">
                <a:solidFill>
                  <a:srgbClr val="F6EFE4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ATÉ VER A PROPOSTA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FE4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1143000" y="1143000"/>
            <a:ext cx="17602200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765"/>
              </a:lnSpc>
              <a:spcBef>
                <a:spcPts val="0"/>
              </a:spcBef>
              <a:spcAft>
                <a:spcPts val="0"/>
              </a:spcAft>
              <a:buClr>
                <a:srgbClr val="BA4100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BA41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COMO TRABALHAMOS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143000" y="1630561"/>
            <a:ext cx="1648206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9000"/>
              <a:buFont typeface="Barlow Condensed"/>
              <a:buNone/>
            </a:pPr>
            <a:r>
              <a:rPr b="1" i="0" lang="en-US" sz="90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DO OLÁ AO SITE NO AR, </a:t>
            </a:r>
            <a:r>
              <a:rPr b="1" i="0" lang="en-US" sz="9000" u="none" cap="none" strike="noStrike">
                <a:solidFill>
                  <a:srgbClr val="BA41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 QUATRO PASSOS.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1143000" y="6089749"/>
            <a:ext cx="16002000" cy="19050"/>
          </a:xfrm>
          <a:prstGeom prst="rect">
            <a:avLst/>
          </a:prstGeom>
          <a:solidFill>
            <a:srgbClr val="1412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1143000" y="6489799"/>
            <a:ext cx="398145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345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1143000" y="7438430"/>
            <a:ext cx="398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600"/>
              <a:buFont typeface="Barlow Condensed"/>
              <a:buNone/>
            </a:pPr>
            <a:r>
              <a:rPr b="1" i="0" lang="en-US" sz="36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CONVERSA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143000" y="8067080"/>
            <a:ext cx="3728085" cy="7560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882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Conta-nos o que faz e o que precisa, por WhatsApp.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143500" y="6108799"/>
            <a:ext cx="12700" cy="3035201"/>
          </a:xfrm>
          <a:prstGeom prst="rect">
            <a:avLst/>
          </a:prstGeom>
          <a:solidFill>
            <a:srgbClr val="DDD2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5537150" y="6489799"/>
            <a:ext cx="3548435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345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537150" y="7438430"/>
            <a:ext cx="354843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600"/>
              <a:buFont typeface="Barlow Condensed"/>
              <a:buNone/>
            </a:pPr>
            <a:r>
              <a:rPr b="1" i="0" lang="en-US" sz="36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PROPOSTA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537150" y="8067080"/>
            <a:ext cx="3322625" cy="7560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882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Por escrito, com o preço e o prazo fechados. Sem custo.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9144000" y="6108799"/>
            <a:ext cx="12700" cy="3035201"/>
          </a:xfrm>
          <a:prstGeom prst="rect">
            <a:avLst/>
          </a:prstGeom>
          <a:solidFill>
            <a:srgbClr val="DDD2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9537650" y="6489799"/>
            <a:ext cx="3548435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345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9537650" y="7438430"/>
            <a:ext cx="354843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600"/>
              <a:buFont typeface="Barlow Condensed"/>
              <a:buNone/>
            </a:pPr>
            <a:r>
              <a:rPr b="1" i="0" lang="en-US" sz="36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MONTAGEM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9537650" y="8067080"/>
            <a:ext cx="3322625" cy="1115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882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Textos, cores e fotografias no seu site. Vê e pede alterações.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3144500" y="6108799"/>
            <a:ext cx="12700" cy="3035201"/>
          </a:xfrm>
          <a:prstGeom prst="rect">
            <a:avLst/>
          </a:prstGeom>
          <a:solidFill>
            <a:srgbClr val="DDD2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13538150" y="6489799"/>
            <a:ext cx="3967535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345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3538150" y="7438430"/>
            <a:ext cx="396753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759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3600"/>
              <a:buFont typeface="Barlow Condensed"/>
              <a:buNone/>
            </a:pPr>
            <a:r>
              <a:rPr b="1" i="0" lang="en-US" sz="36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 AR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3538150" y="8067080"/>
            <a:ext cx="3715055" cy="7560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882"/>
              </a:lnSpc>
              <a:spcBef>
                <a:spcPts val="0"/>
              </a:spcBef>
              <a:spcAft>
                <a:spcPts val="0"/>
              </a:spcAft>
              <a:buClr>
                <a:srgbClr val="5A5249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5A5249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Publicado no seu domínio, registado em seu nome.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5B13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1143000" y="1143000"/>
            <a:ext cx="17602200" cy="335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765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 QUE PODE ESPERAR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143000" y="2808833"/>
            <a:ext cx="19050" cy="4718596"/>
          </a:xfrm>
          <a:prstGeom prst="rect">
            <a:avLst/>
          </a:prstGeom>
          <a:solidFill>
            <a:srgbClr val="1412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1543050" y="2808833"/>
            <a:ext cx="3541395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8000"/>
              <a:buFont typeface="Barlow Condensed"/>
              <a:buNone/>
            </a:pPr>
            <a:r>
              <a:rPr b="1" i="0" lang="en-US" sz="180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7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543050" y="4828133"/>
            <a:ext cx="354139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95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2100"/>
              <a:buFont typeface="Hanken Grotesk"/>
              <a:buNone/>
            </a:pPr>
            <a:r>
              <a:rPr b="1" i="0" lang="en-US" sz="210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MODELOS PRONTOS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543050" y="5352008"/>
            <a:ext cx="3541395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059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Veja-os antes de decidir.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143500" y="2808833"/>
            <a:ext cx="19050" cy="4718596"/>
          </a:xfrm>
          <a:prstGeom prst="rect">
            <a:avLst/>
          </a:prstGeom>
          <a:solidFill>
            <a:srgbClr val="1412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5543550" y="2808833"/>
            <a:ext cx="3316034" cy="3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8000"/>
              <a:buFont typeface="Barlow Condensed"/>
              <a:buNone/>
            </a:pPr>
            <a:r>
              <a:rPr b="1" i="0" lang="en-US" sz="180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48 h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5543550" y="6656933"/>
            <a:ext cx="354139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95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2100"/>
              <a:buFont typeface="Hanken Grotesk"/>
              <a:buNone/>
            </a:pPr>
            <a:r>
              <a:rPr b="1" i="0" lang="en-US" sz="210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DO SIM AO SITE NO 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543550" y="7180808"/>
            <a:ext cx="3541395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059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Com o material entregue.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9144000" y="2808833"/>
            <a:ext cx="19050" cy="4718596"/>
          </a:xfrm>
          <a:prstGeom prst="rect">
            <a:avLst/>
          </a:prstGeom>
          <a:solidFill>
            <a:srgbClr val="1412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9544050" y="2808833"/>
            <a:ext cx="3541395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8000"/>
              <a:buFont typeface="Barlow Condensed"/>
              <a:buNone/>
            </a:pPr>
            <a:r>
              <a:rPr b="1" i="0" lang="en-US" sz="180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9544050" y="4828133"/>
            <a:ext cx="354139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95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2100"/>
              <a:buFont typeface="Hanken Grotesk"/>
              <a:buNone/>
            </a:pPr>
            <a:r>
              <a:rPr b="1" i="0" lang="en-US" sz="210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PESSOA A RESPONDER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9544050" y="5352008"/>
            <a:ext cx="3541395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059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Sempre a mesma.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3144500" y="2808833"/>
            <a:ext cx="19050" cy="4718596"/>
          </a:xfrm>
          <a:prstGeom prst="rect">
            <a:avLst/>
          </a:prstGeom>
          <a:solidFill>
            <a:srgbClr val="1412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13544550" y="2808833"/>
            <a:ext cx="3541395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8000"/>
              <a:buFont typeface="Barlow Condensed"/>
              <a:buNone/>
            </a:pPr>
            <a:r>
              <a:rPr b="1" i="0" lang="en-US" sz="18000" u="none" cap="none" strike="noStrike">
                <a:solidFill>
                  <a:srgbClr val="1412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0 €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13544550" y="4828133"/>
            <a:ext cx="354139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95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2100"/>
              <a:buFont typeface="Hanken Grotesk"/>
              <a:buNone/>
            </a:pPr>
            <a:r>
              <a:rPr b="1" i="0" lang="en-US" sz="210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ATÉ VER A PROPOSTA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13544550" y="5352008"/>
            <a:ext cx="3541395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059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950"/>
              <a:buFont typeface="Hanken Grotesk"/>
              <a:buNone/>
            </a:pPr>
            <a:r>
              <a:rPr b="0" i="0" lang="en-US" sz="195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Por escrito, preço fechado.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1143000" y="8896201"/>
            <a:ext cx="333577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471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DOMÍNIO EM SEU NOME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632722" y="8896201"/>
            <a:ext cx="1695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471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·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183237" y="8896201"/>
            <a:ext cx="253260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471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SEM FIDELIZAÇÃO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7942808" y="8896201"/>
            <a:ext cx="1695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471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·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8493323" y="8896201"/>
            <a:ext cx="3820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471"/>
              </a:lnSpc>
              <a:spcBef>
                <a:spcPts val="0"/>
              </a:spcBef>
              <a:spcAft>
                <a:spcPts val="0"/>
              </a:spcAft>
              <a:buClr>
                <a:srgbClr val="141210"/>
              </a:buClr>
              <a:buSzPts val="1950"/>
              <a:buFont typeface="Hanken Grotesk"/>
              <a:buNone/>
            </a:pPr>
            <a:r>
              <a:rPr b="1" i="0" lang="en-US" sz="1950" u="none" cap="none" strike="noStrike">
                <a:solidFill>
                  <a:srgbClr val="14121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RESPOSTA NO PRÓPRIO DIA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1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/>
          <p:nvPr/>
        </p:nvSpPr>
        <p:spPr>
          <a:xfrm>
            <a:off x="11620500" y="3810000"/>
            <a:ext cx="8572500" cy="9144000"/>
          </a:xfrm>
          <a:custGeom>
            <a:rect b="b" l="l" r="r" t="t"/>
            <a:pathLst>
              <a:path extrusionOk="0" h="9144000" w="8572500">
                <a:moveTo>
                  <a:pt x="4286250" y="0"/>
                </a:moveTo>
                <a:lnTo>
                  <a:pt x="5314950" y="0"/>
                </a:lnTo>
                <a:cubicBezTo>
                  <a:pt x="6178906" y="0"/>
                  <a:pt x="7007477" y="343205"/>
                  <a:pt x="7618386" y="954114"/>
                </a:cubicBezTo>
                <a:cubicBezTo>
                  <a:pt x="8229295" y="1565023"/>
                  <a:pt x="8572500" y="2393594"/>
                  <a:pt x="8572500" y="3257550"/>
                </a:cubicBezTo>
                <a:lnTo>
                  <a:pt x="8572500" y="5200650"/>
                </a:lnTo>
                <a:cubicBezTo>
                  <a:pt x="8572500" y="7378502"/>
                  <a:pt x="6807002" y="9144000"/>
                  <a:pt x="4629150" y="9144000"/>
                </a:cubicBezTo>
                <a:lnTo>
                  <a:pt x="4286250" y="9144000"/>
                </a:lnTo>
                <a:cubicBezTo>
                  <a:pt x="1919019" y="9144000"/>
                  <a:pt x="0" y="7224981"/>
                  <a:pt x="0" y="4857750"/>
                </a:cubicBezTo>
                <a:lnTo>
                  <a:pt x="0" y="4286250"/>
                </a:lnTo>
                <a:cubicBezTo>
                  <a:pt x="0" y="1919019"/>
                  <a:pt x="1919019" y="0"/>
                  <a:pt x="4286250" y="0"/>
                </a:cubicBezTo>
                <a:close/>
              </a:path>
            </a:pathLst>
          </a:custGeom>
          <a:solidFill>
            <a:srgbClr val="EC5B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143000" y="965002"/>
            <a:ext cx="942061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754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F6EFE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vaı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2101007" y="1126331"/>
            <a:ext cx="159246" cy="159246"/>
          </a:xfrm>
          <a:prstGeom prst="ellipse">
            <a:avLst/>
          </a:prstGeom>
          <a:solidFill>
            <a:srgbClr val="EC5B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2094309" y="1587103"/>
            <a:ext cx="1493699" cy="2894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429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1979"/>
              <a:buFont typeface="JetBrains Mono"/>
              <a:buNone/>
            </a:pPr>
            <a:r>
              <a:rPr b="0" i="0" lang="en-US" sz="1980" u="none" cap="none" strike="noStrike">
                <a:solidFill>
                  <a:srgbClr val="F6EFE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DESIGN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1143000" y="2413695"/>
            <a:ext cx="16482060" cy="2986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667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13500"/>
              <a:buFont typeface="Barlow Condensed"/>
              <a:buNone/>
            </a:pPr>
            <a:r>
              <a:rPr b="1" i="0" lang="en-US" sz="13500" u="none" cap="none" strike="noStrike">
                <a:solidFill>
                  <a:srgbClr val="F6EFE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VAMOS </a:t>
            </a:r>
            <a:r>
              <a:rPr b="1" i="0" lang="en-US" sz="13500" u="none" cap="none" strike="noStrike">
                <a:solidFill>
                  <a:srgbClr val="EC5B1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 ISSO?</a:t>
            </a:r>
            <a:endParaRPr b="0" i="0" sz="1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143000" y="5895975"/>
            <a:ext cx="9525000" cy="19050"/>
          </a:xfrm>
          <a:prstGeom prst="rect">
            <a:avLst/>
          </a:pr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1143000" y="6715125"/>
            <a:ext cx="9525000" cy="9525"/>
          </a:xfrm>
          <a:prstGeom prst="rect">
            <a:avLst/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1143000" y="6200775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727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C5B1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WHATSAPP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3429000" y="6124575"/>
            <a:ext cx="7962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472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3000"/>
              <a:buFont typeface="Hanken Grotesk"/>
              <a:buNone/>
            </a:pPr>
            <a:r>
              <a:rPr b="1" i="0" lang="en-US" sz="3000" u="none" cap="none" strike="noStrike">
                <a:solidFill>
                  <a:srgbClr val="F6EFE4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+351 965 633 614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1143000" y="7524750"/>
            <a:ext cx="9525000" cy="9525"/>
          </a:xfrm>
          <a:prstGeom prst="rect">
            <a:avLst/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1143000" y="70104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727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C5B1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3429000" y="6934200"/>
            <a:ext cx="7962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472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3000"/>
              <a:buFont typeface="Hanken Grotesk"/>
              <a:buNone/>
            </a:pPr>
            <a:r>
              <a:rPr b="1" i="0" lang="en-US" sz="3000" u="none" cap="none" strike="noStrike">
                <a:solidFill>
                  <a:srgbClr val="F6EFE4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geral@vaidesign.net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1143000" y="8334375"/>
            <a:ext cx="9525000" cy="9525"/>
          </a:xfrm>
          <a:prstGeom prst="rect">
            <a:avLst/>
          </a:prstGeom>
          <a:solidFill>
            <a:srgbClr val="3A34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1143000" y="7820025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727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C5B1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3429000" y="7743825"/>
            <a:ext cx="7962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472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3000"/>
              <a:buFont typeface="Hanken Grotesk"/>
              <a:buNone/>
            </a:pPr>
            <a:r>
              <a:rPr b="1" i="0" lang="en-US" sz="3000" u="none" cap="none" strike="noStrike">
                <a:solidFill>
                  <a:srgbClr val="F6EFE4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vaidesign.net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1143000" y="862965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727"/>
              </a:lnSpc>
              <a:spcBef>
                <a:spcPts val="0"/>
              </a:spcBef>
              <a:spcAft>
                <a:spcPts val="0"/>
              </a:spcAft>
              <a:buClr>
                <a:srgbClr val="EC5B13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EC5B1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INSTAGRAM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3429000" y="8553450"/>
            <a:ext cx="7962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472"/>
              </a:lnSpc>
              <a:spcBef>
                <a:spcPts val="0"/>
              </a:spcBef>
              <a:spcAft>
                <a:spcPts val="0"/>
              </a:spcAft>
              <a:buClr>
                <a:srgbClr val="F6EFE4"/>
              </a:buClr>
              <a:buSzPts val="3000"/>
              <a:buFont typeface="Hanken Grotesk"/>
              <a:buNone/>
            </a:pPr>
            <a:r>
              <a:rPr b="1" i="0" lang="en-US" sz="3000" u="none" cap="none" strike="noStrike">
                <a:solidFill>
                  <a:srgbClr val="F6EFE4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@agenciavaidesign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