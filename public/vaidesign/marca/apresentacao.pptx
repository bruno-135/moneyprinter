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10287000" cx="18288000"/>
  <p:notesSz cx="10287000" cy="18288000"/>
  <p:embeddedFontLst>
    <p:embeddedFont>
      <p:font typeface="Hanken Grotesk"/>
      <p:regular r:id="rId15"/>
      <p:bold r:id="rId16"/>
      <p:italic r:id="rId17"/>
      <p:boldItalic r:id="rId18"/>
    </p:embeddedFont>
    <p:embeddedFont>
      <p:font typeface="Barlow Condensed"/>
      <p:regular r:id="rId19"/>
      <p:bold r:id="rId20"/>
      <p:italic r:id="rId21"/>
      <p:boldItalic r:id="rId22"/>
    </p:embeddedFont>
    <p:embeddedFont>
      <p:font typeface="JetBrains Mono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BarlowCondensed-bold.fntdata"/><Relationship Id="rId22" Type="http://schemas.openxmlformats.org/officeDocument/2006/relationships/font" Target="fonts/BarlowCondensed-boldItalic.fntdata"/><Relationship Id="rId21" Type="http://schemas.openxmlformats.org/officeDocument/2006/relationships/font" Target="fonts/BarlowCondensed-italic.fntdata"/><Relationship Id="rId24" Type="http://schemas.openxmlformats.org/officeDocument/2006/relationships/font" Target="fonts/JetBrainsMono-bold.fntdata"/><Relationship Id="rId23" Type="http://schemas.openxmlformats.org/officeDocument/2006/relationships/font" Target="fonts/JetBrainsMono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font" Target="fonts/JetBrainsMono-boldItalic.fntdata"/><Relationship Id="rId25" Type="http://schemas.openxmlformats.org/officeDocument/2006/relationships/font" Target="fonts/JetBrainsMono-italic.fntdata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font" Target="fonts/HankenGrotesk-regular.fntdata"/><Relationship Id="rId14" Type="http://schemas.openxmlformats.org/officeDocument/2006/relationships/slide" Target="slides/slide10.xml"/><Relationship Id="rId17" Type="http://schemas.openxmlformats.org/officeDocument/2006/relationships/font" Target="fonts/HankenGrotesk-italic.fntdata"/><Relationship Id="rId16" Type="http://schemas.openxmlformats.org/officeDocument/2006/relationships/font" Target="fonts/HankenGrotesk-bold.fntdata"/><Relationship Id="rId19" Type="http://schemas.openxmlformats.org/officeDocument/2006/relationships/font" Target="fonts/BarlowCondensed-regular.fntdata"/><Relationship Id="rId18" Type="http://schemas.openxmlformats.org/officeDocument/2006/relationships/font" Target="fonts/HankenGrotesk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Abertura. Apresente-se pelo nome e diga que a VaiDesign faz sites, marca e redes sociais à medida.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" name="Google Shape;27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Quem está por trás. Uma pessoa, sempre a mesma, do primeiro olá à entrega.</a:t>
            </a:r>
            <a:endParaRPr/>
          </a:p>
        </p:txBody>
      </p:sp>
      <p:sp>
        <p:nvSpPr>
          <p:cNvPr id="28" name="Google Shape;28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" name="Google Shape;40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quatro princípios. Leia só os títulos; o texto fica para quem recebe a apresentação.</a:t>
            </a:r>
            <a:endParaRPr/>
          </a:p>
        </p:txBody>
      </p:sp>
      <p:sp>
        <p:nvSpPr>
          <p:cNvPr id="41" name="Google Shape;41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Primeira metade dos serviços: tudo o que tem a ver com o site e a marca.</a:t>
            </a:r>
            <a:endParaRPr/>
          </a:p>
        </p:txBody>
      </p:sp>
      <p:sp>
        <p:nvSpPr>
          <p:cNvPr id="65" name="Google Shape;6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Segunda metade: depois do site no ar, trazer pessoas até ele.</a:t>
            </a:r>
            <a:endParaRPr/>
          </a:p>
        </p:txBody>
      </p:sp>
      <p:sp>
        <p:nvSpPr>
          <p:cNvPr id="97" name="Google Shape;97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" name="Google Shape;116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modelos. Peça ao cliente que diga qual lhe agrada mais: é o ponto de partida.</a:t>
            </a:r>
            <a:endParaRPr/>
          </a:p>
        </p:txBody>
      </p:sp>
      <p:sp>
        <p:nvSpPr>
          <p:cNvPr id="117" name="Google Shape;117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modelos são o ponto de partida, não um limite.</a:t>
            </a:r>
            <a:endParaRPr/>
          </a:p>
        </p:txBody>
      </p:sp>
      <p:sp>
        <p:nvSpPr>
          <p:cNvPr id="152" name="Google Shape;15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6" name="Google Shape;16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Quatro passos. Sublinhe que o prazo conta a partir do material entregue.</a:t>
            </a:r>
            <a:endParaRPr/>
          </a:p>
        </p:txBody>
      </p:sp>
      <p:sp>
        <p:nvSpPr>
          <p:cNvPr id="167" name="Google Shape;16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Números que se podem provar. Nenhum é de clientes nem de anos.</a:t>
            </a:r>
            <a:endParaRPr/>
          </a:p>
        </p:txBody>
      </p:sp>
      <p:sp>
        <p:nvSpPr>
          <p:cNvPr id="190" name="Google Shape;19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Fecho. Deixe o WhatsApp como próximo passo.</a:t>
            </a:r>
            <a:endParaRPr/>
          </a:p>
        </p:txBody>
      </p:sp>
      <p:sp>
        <p:nvSpPr>
          <p:cNvPr id="217" name="Google Shape;217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13.jpg"/><Relationship Id="rId5" Type="http://schemas.openxmlformats.org/officeDocument/2006/relationships/image" Target="../media/image15.jpg"/><Relationship Id="rId6" Type="http://schemas.openxmlformats.org/officeDocument/2006/relationships/image" Target="../media/image18.jpg"/><Relationship Id="rId7" Type="http://schemas.openxmlformats.org/officeDocument/2006/relationships/image" Target="../media/image9.jpg"/><Relationship Id="rId8" Type="http://schemas.openxmlformats.org/officeDocument/2006/relationships/image" Target="../media/image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Relationship Id="rId4" Type="http://schemas.openxmlformats.org/officeDocument/2006/relationships/image" Target="../media/image4.jpg"/><Relationship Id="rId5" Type="http://schemas.openxmlformats.org/officeDocument/2006/relationships/image" Target="../media/image1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jpg"/><Relationship Id="rId4" Type="http://schemas.openxmlformats.org/officeDocument/2006/relationships/image" Target="../media/image1.jpg"/><Relationship Id="rId9" Type="http://schemas.openxmlformats.org/officeDocument/2006/relationships/image" Target="../media/image8.jpg"/><Relationship Id="rId5" Type="http://schemas.openxmlformats.org/officeDocument/2006/relationships/image" Target="../media/image7.jpg"/><Relationship Id="rId6" Type="http://schemas.openxmlformats.org/officeDocument/2006/relationships/image" Target="../media/image16.jpg"/><Relationship Id="rId7" Type="http://schemas.openxmlformats.org/officeDocument/2006/relationships/image" Target="../media/image2.jpg"/><Relationship Id="rId8" Type="http://schemas.openxmlformats.org/officeDocument/2006/relationships/image" Target="../media/image20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jpg"/><Relationship Id="rId4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EFE4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906000" y="-1905000"/>
            <a:ext cx="10287000" cy="11811000"/>
          </a:xfrm>
          <a:custGeom>
            <a:rect b="b" l="l" r="r" t="t"/>
            <a:pathLst>
              <a:path extrusionOk="0" h="11811000" w="10287000">
                <a:moveTo>
                  <a:pt x="5143500" y="0"/>
                </a:moveTo>
                <a:lnTo>
                  <a:pt x="6377940" y="0"/>
                </a:lnTo>
                <a:cubicBezTo>
                  <a:pt x="7414687" y="0"/>
                  <a:pt x="8408972" y="411846"/>
                  <a:pt x="9142063" y="1144937"/>
                </a:cubicBezTo>
                <a:cubicBezTo>
                  <a:pt x="9875154" y="1878028"/>
                  <a:pt x="10287000" y="2872313"/>
                  <a:pt x="10287000" y="3909060"/>
                </a:cubicBezTo>
                <a:lnTo>
                  <a:pt x="10287000" y="7078980"/>
                </a:lnTo>
                <a:cubicBezTo>
                  <a:pt x="10287000" y="9692402"/>
                  <a:pt x="8168402" y="11811000"/>
                  <a:pt x="5554980" y="11811000"/>
                </a:cubicBezTo>
                <a:lnTo>
                  <a:pt x="5143500" y="11811000"/>
                </a:lnTo>
                <a:cubicBezTo>
                  <a:pt x="2302823" y="11811000"/>
                  <a:pt x="0" y="9508177"/>
                  <a:pt x="0" y="6667500"/>
                </a:cubicBezTo>
                <a:lnTo>
                  <a:pt x="0" y="5143500"/>
                </a:lnTo>
                <a:cubicBezTo>
                  <a:pt x="0" y="2302823"/>
                  <a:pt x="2302823" y="0"/>
                  <a:pt x="5143500" y="0"/>
                </a:cubicBezTo>
                <a:close/>
              </a:path>
            </a:pathLst>
          </a:cu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1430000" y="5334000"/>
            <a:ext cx="7239000" cy="7239000"/>
          </a:xfrm>
          <a:prstGeom prst="ellipse">
            <a:avLst/>
          </a:prstGeom>
          <a:noFill/>
          <a:ln cap="flat" cmpd="sng" w="254000">
            <a:solidFill>
              <a:srgbClr val="F6EF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" name="Google Shape;18;p3"/>
          <p:cNvPicPr preferRelativeResize="0"/>
          <p:nvPr/>
        </p:nvPicPr>
        <p:blipFill rotWithShape="1">
          <a:blip r:embed="rId3">
            <a:alphaModFix/>
          </a:blip>
          <a:srcRect b="0" l="11364" r="11364" t="0"/>
          <a:stretch/>
        </p:blipFill>
        <p:spPr>
          <a:xfrm>
            <a:off x="10668000" y="1905000"/>
            <a:ext cx="6477000" cy="838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3"/>
          <p:cNvSpPr/>
          <p:nvPr/>
        </p:nvSpPr>
        <p:spPr>
          <a:xfrm>
            <a:off x="1143000" y="669206"/>
            <a:ext cx="902703" cy="1000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48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6300"/>
              <a:buFont typeface="Barlow Condensed"/>
              <a:buNone/>
            </a:pPr>
            <a:r>
              <a:rPr b="1" i="0" lang="en-US" sz="63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vaı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2057549" y="822275"/>
            <a:ext cx="151954" cy="151954"/>
          </a:xfrm>
          <a:prstGeom prst="ellipse">
            <a:avLst/>
          </a:pr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2051149" y="1263551"/>
            <a:ext cx="1425922" cy="27801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4118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890"/>
              <a:buFont typeface="JetBrains Mono"/>
              <a:buNone/>
            </a:pPr>
            <a:r>
              <a:rPr b="0" i="0" lang="en-US" sz="1890" u="none" cap="none" strike="noStrike">
                <a:solidFill>
                  <a:srgbClr val="14121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</a:t>
            </a:r>
            <a:endParaRPr b="0" i="0" sz="189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43000" y="2381250"/>
            <a:ext cx="942975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BA410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BA410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DESIGN E SITES À MEDIDA DO SEU NEGÓCIO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43000" y="3021211"/>
            <a:ext cx="8829675" cy="50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1250"/>
              <a:buFont typeface="Barlow Condensed"/>
              <a:buNone/>
            </a:pPr>
            <a:r>
              <a:rPr b="1" i="0" lang="en-US" sz="1125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O SITE JÁ ESTÁ FEITO. </a:t>
            </a:r>
            <a:r>
              <a:rPr b="1" i="0" lang="en-US" sz="11250" u="none" cap="none" strike="noStrike">
                <a:solidFill>
                  <a:srgbClr val="BA410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FALTA O SEU NOME.</a:t>
            </a:r>
            <a:endParaRPr b="0" i="0" sz="1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3"/>
          <p:cNvSpPr/>
          <p:nvPr/>
        </p:nvSpPr>
        <p:spPr>
          <a:xfrm>
            <a:off x="1143000" y="9220200"/>
            <a:ext cx="3248844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APRESENTAÇÃO · 2026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BF5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/>
          <p:nvPr/>
        </p:nvSpPr>
        <p:spPr>
          <a:xfrm>
            <a:off x="0" y="0"/>
            <a:ext cx="7239000" cy="10287000"/>
          </a:xfrm>
          <a:prstGeom prst="rect">
            <a:avLst/>
          </a:pr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1" name="Google Shape;31;p4"/>
          <p:cNvPicPr preferRelativeResize="0"/>
          <p:nvPr/>
        </p:nvPicPr>
        <p:blipFill rotWithShape="1">
          <a:blip r:embed="rId3">
            <a:alphaModFix/>
          </a:blip>
          <a:srcRect b="0" l="4545" r="4545" t="0"/>
          <a:stretch/>
        </p:blipFill>
        <p:spPr>
          <a:xfrm>
            <a:off x="762000" y="1905000"/>
            <a:ext cx="5715000" cy="8382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4"/>
          <p:cNvSpPr/>
          <p:nvPr/>
        </p:nvSpPr>
        <p:spPr>
          <a:xfrm>
            <a:off x="8382000" y="2131070"/>
            <a:ext cx="942975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BA410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BA410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QUEM SOMOS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8382000" y="2809131"/>
            <a:ext cx="8829675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9000"/>
              <a:buFont typeface="Barlow Condensed"/>
              <a:buNone/>
            </a:pPr>
            <a:r>
              <a:rPr b="1" i="0" lang="en-US" sz="9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FALA SEMPRE COM </a:t>
            </a:r>
            <a:r>
              <a:rPr b="1" i="0" lang="en-US" sz="9000" u="none" cap="none" strike="noStrike">
                <a:solidFill>
                  <a:srgbClr val="BA410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A MESMA PESSOA.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8382000" y="5247531"/>
            <a:ext cx="8829675" cy="19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33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2550"/>
              <a:buFont typeface="Hanken Grotesk"/>
              <a:buNone/>
            </a:pPr>
            <a:r>
              <a:rPr b="0" i="0" lang="en-US" sz="25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Por trás da VaiDesign está Bruno Dias, empenhado em ajudá-lo a atingir os seus objetivos. É quem lê as mensagens, desenha os sites e os põe no ar. Não há gestor de conta nem passagem de testemunho.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8382000" y="7571631"/>
            <a:ext cx="8572500" cy="12700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8382000" y="7889081"/>
            <a:ext cx="2156073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600"/>
              <a:buFont typeface="Barlow Condensed"/>
              <a:buNone/>
            </a:pPr>
            <a:r>
              <a:rPr b="1" i="0" lang="en-US" sz="36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BRUNO DIAS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0570666" y="8003381"/>
            <a:ext cx="341992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FUNDADOR · VAIDESIGN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210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13525500" y="-2857500"/>
            <a:ext cx="7239000" cy="7239000"/>
          </a:xfrm>
          <a:custGeom>
            <a:rect b="b" l="l" r="r" t="t"/>
            <a:pathLst>
              <a:path extrusionOk="0" h="7239000" w="7239000">
                <a:moveTo>
                  <a:pt x="3619500" y="0"/>
                </a:moveTo>
                <a:lnTo>
                  <a:pt x="4488180" y="0"/>
                </a:lnTo>
                <a:cubicBezTo>
                  <a:pt x="5217743" y="0"/>
                  <a:pt x="5917425" y="289818"/>
                  <a:pt x="6433303" y="805697"/>
                </a:cubicBezTo>
                <a:cubicBezTo>
                  <a:pt x="6949182" y="1321575"/>
                  <a:pt x="7239000" y="2021257"/>
                  <a:pt x="7239000" y="2750820"/>
                </a:cubicBezTo>
                <a:lnTo>
                  <a:pt x="7239000" y="3909060"/>
                </a:lnTo>
                <a:cubicBezTo>
                  <a:pt x="7239000" y="5748135"/>
                  <a:pt x="5748135" y="7239000"/>
                  <a:pt x="3909060" y="7239000"/>
                </a:cubicBezTo>
                <a:lnTo>
                  <a:pt x="3619500" y="7239000"/>
                </a:lnTo>
                <a:cubicBezTo>
                  <a:pt x="1620505" y="7239000"/>
                  <a:pt x="0" y="5618495"/>
                  <a:pt x="0" y="3619500"/>
                </a:cubicBezTo>
                <a:lnTo>
                  <a:pt x="0" y="3619500"/>
                </a:lnTo>
                <a:cubicBezTo>
                  <a:pt x="0" y="1620505"/>
                  <a:pt x="1620505" y="0"/>
                  <a:pt x="3619500" y="0"/>
                </a:cubicBezTo>
                <a:close/>
              </a:path>
            </a:pathLst>
          </a:cu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5"/>
          <p:cNvSpPr/>
          <p:nvPr/>
        </p:nvSpPr>
        <p:spPr>
          <a:xfrm>
            <a:off x="1143000" y="1143000"/>
            <a:ext cx="1760220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EC5B13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COMO PENSAMOS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1143000" y="1706761"/>
            <a:ext cx="1177290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9000"/>
              <a:buFont typeface="Barlow Condensed"/>
              <a:buNone/>
            </a:pPr>
            <a:r>
              <a:rPr b="1" i="0" lang="en-US" sz="900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UM SITE BONITO QUE TAMBÉM TRABALHA.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5"/>
          <p:cNvSpPr/>
          <p:nvPr/>
        </p:nvSpPr>
        <p:spPr>
          <a:xfrm>
            <a:off x="1143000" y="6732389"/>
            <a:ext cx="12700" cy="2411611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5"/>
          <p:cNvSpPr/>
          <p:nvPr/>
        </p:nvSpPr>
        <p:spPr>
          <a:xfrm>
            <a:off x="1536650" y="6732389"/>
            <a:ext cx="3548435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5400"/>
              <a:buFont typeface="Barlow Condensed"/>
              <a:buNone/>
            </a:pPr>
            <a:r>
              <a:rPr b="1" i="0" lang="en-US" sz="54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01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1536650" y="7589639"/>
            <a:ext cx="332262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811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FEITO PARA O SEU RAMO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5"/>
          <p:cNvSpPr/>
          <p:nvPr/>
        </p:nvSpPr>
        <p:spPr>
          <a:xfrm>
            <a:off x="1536650" y="8401050"/>
            <a:ext cx="332262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4706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Parte-se do que já funciona no seu tipo de negócio.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5143500" y="6732389"/>
            <a:ext cx="12700" cy="2411611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5"/>
          <p:cNvSpPr/>
          <p:nvPr/>
        </p:nvSpPr>
        <p:spPr>
          <a:xfrm>
            <a:off x="5537150" y="6732389"/>
            <a:ext cx="3548435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5400"/>
              <a:buFont typeface="Barlow Condensed"/>
              <a:buNone/>
            </a:pPr>
            <a:r>
              <a:rPr b="1" i="0" lang="en-US" sz="54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02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5537150" y="7589639"/>
            <a:ext cx="332262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811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TEXTO ESCRITO CONSIGO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5537150" y="8401050"/>
            <a:ext cx="332262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4706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As palavras pensadas para quem as vai ler.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9144000" y="6732389"/>
            <a:ext cx="12700" cy="2411611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5"/>
          <p:cNvSpPr/>
          <p:nvPr/>
        </p:nvSpPr>
        <p:spPr>
          <a:xfrm>
            <a:off x="9537650" y="6732389"/>
            <a:ext cx="3548435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5400"/>
              <a:buFont typeface="Barlow Condensed"/>
              <a:buNone/>
            </a:pPr>
            <a:r>
              <a:rPr b="1" i="0" lang="en-US" sz="54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03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9537650" y="7589639"/>
            <a:ext cx="3322625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811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PRIMEIRO NO TELEMÓVEL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9537650" y="8401050"/>
            <a:ext cx="332262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4706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Desenhado para o ecrã onde os clientes o abrem.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13144500" y="6732389"/>
            <a:ext cx="12700" cy="2411611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13538150" y="6732389"/>
            <a:ext cx="3548435" cy="7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5400"/>
              <a:buFont typeface="Barlow Condensed"/>
              <a:buNone/>
            </a:pPr>
            <a:r>
              <a:rPr b="1" i="0" lang="en-US" sz="54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04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13538150" y="7589639"/>
            <a:ext cx="3548435" cy="3580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811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TUDO POR WHATSAPP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13538150" y="8081070"/>
            <a:ext cx="3322625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4706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Dúvidas e aprovações na mesma conversa.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EFE4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6"/>
          <p:cNvSpPr/>
          <p:nvPr/>
        </p:nvSpPr>
        <p:spPr>
          <a:xfrm>
            <a:off x="1143000" y="914400"/>
            <a:ext cx="590931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BA410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BA410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 QUE FAZEMOS · 1 DE 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/>
          <p:nvPr/>
        </p:nvSpPr>
        <p:spPr>
          <a:xfrm>
            <a:off x="1143000" y="1401961"/>
            <a:ext cx="5909310" cy="9295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4880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7800"/>
              <a:buFont typeface="Barlow Condensed"/>
              <a:buNone/>
            </a:pPr>
            <a:r>
              <a:rPr b="1" i="0" lang="en-US" sz="78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SITES E MARCA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/>
          <p:nvPr/>
        </p:nvSpPr>
        <p:spPr>
          <a:xfrm>
            <a:off x="15589895" y="921841"/>
            <a:ext cx="1710616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3500"/>
              <a:buFont typeface="Barlow Condensed"/>
              <a:buNone/>
            </a:pPr>
            <a:r>
              <a:rPr b="1" i="0" lang="en-US" sz="135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06</a:t>
            </a:r>
            <a:endParaRPr b="0" i="0" sz="1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/>
          <p:nvPr/>
        </p:nvSpPr>
        <p:spPr>
          <a:xfrm>
            <a:off x="1143000" y="2750641"/>
            <a:ext cx="5156150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1" name="Google Shape;71;p6"/>
          <p:cNvPicPr preferRelativeResize="0"/>
          <p:nvPr/>
        </p:nvPicPr>
        <p:blipFill rotWithShape="1">
          <a:blip r:embed="rId3">
            <a:alphaModFix/>
          </a:blip>
          <a:srcRect b="0" l="27842" r="27842" t="0"/>
          <a:stretch/>
        </p:blipFill>
        <p:spPr>
          <a:xfrm>
            <a:off x="1155650" y="2763292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6"/>
          <p:cNvSpPr/>
          <p:nvPr/>
        </p:nvSpPr>
        <p:spPr>
          <a:xfrm>
            <a:off x="3517850" y="3029992"/>
            <a:ext cx="275214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SITE DE NEGÓCIO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3517850" y="3525292"/>
            <a:ext cx="2578150" cy="9980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Quem é, o que faz, onde está e como se fala consigo.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6"/>
          <p:cNvSpPr/>
          <p:nvPr/>
        </p:nvSpPr>
        <p:spPr>
          <a:xfrm>
            <a:off x="6565850" y="2750641"/>
            <a:ext cx="5156150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5" name="Google Shape;75;p6"/>
          <p:cNvPicPr preferRelativeResize="0"/>
          <p:nvPr/>
        </p:nvPicPr>
        <p:blipFill rotWithShape="1">
          <a:blip r:embed="rId4">
            <a:alphaModFix/>
          </a:blip>
          <a:srcRect b="0" l="27842" r="27842" t="0"/>
          <a:stretch/>
        </p:blipFill>
        <p:spPr>
          <a:xfrm>
            <a:off x="6578501" y="2763292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6"/>
          <p:cNvSpPr/>
          <p:nvPr/>
        </p:nvSpPr>
        <p:spPr>
          <a:xfrm>
            <a:off x="8940701" y="3029992"/>
            <a:ext cx="2752145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PÁGINA PESSOAL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6"/>
          <p:cNvSpPr/>
          <p:nvPr/>
        </p:nvSpPr>
        <p:spPr>
          <a:xfrm>
            <a:off x="8940701" y="3525292"/>
            <a:ext cx="2578150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Para quem trabalha sozinho e é o produto.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/>
          <p:nvPr/>
        </p:nvSpPr>
        <p:spPr>
          <a:xfrm>
            <a:off x="11988701" y="2750641"/>
            <a:ext cx="5156299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79" name="Google Shape;79;p6"/>
          <p:cNvPicPr preferRelativeResize="0"/>
          <p:nvPr/>
        </p:nvPicPr>
        <p:blipFill rotWithShape="1">
          <a:blip r:embed="rId5">
            <a:alphaModFix/>
          </a:blip>
          <a:srcRect b="0" l="27831" r="27831" t="0"/>
          <a:stretch/>
        </p:blipFill>
        <p:spPr>
          <a:xfrm>
            <a:off x="12001351" y="2763292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6"/>
          <p:cNvSpPr/>
          <p:nvPr/>
        </p:nvSpPr>
        <p:spPr>
          <a:xfrm>
            <a:off x="14363551" y="3029992"/>
            <a:ext cx="275230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LOJA ONLINE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/>
          <p:nvPr/>
        </p:nvSpPr>
        <p:spPr>
          <a:xfrm>
            <a:off x="14363551" y="3525292"/>
            <a:ext cx="2578298" cy="99804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Catálogo com preços e encomenda por WhatsApp.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/>
          <p:nvPr/>
        </p:nvSpPr>
        <p:spPr>
          <a:xfrm>
            <a:off x="1143000" y="6194971"/>
            <a:ext cx="5156150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3" name="Google Shape;83;p6"/>
          <p:cNvPicPr preferRelativeResize="0"/>
          <p:nvPr/>
        </p:nvPicPr>
        <p:blipFill rotWithShape="1">
          <a:blip r:embed="rId6">
            <a:alphaModFix/>
          </a:blip>
          <a:srcRect b="0" l="27831" r="27831" t="0"/>
          <a:stretch/>
        </p:blipFill>
        <p:spPr>
          <a:xfrm>
            <a:off x="1155650" y="6207621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6"/>
          <p:cNvSpPr/>
          <p:nvPr/>
        </p:nvSpPr>
        <p:spPr>
          <a:xfrm>
            <a:off x="3517850" y="6474321"/>
            <a:ext cx="25781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LOGÓTIPO E IDENTIDADE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6"/>
          <p:cNvSpPr/>
          <p:nvPr/>
        </p:nvSpPr>
        <p:spPr>
          <a:xfrm>
            <a:off x="3517850" y="7350621"/>
            <a:ext cx="2578150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Nome, cores e letra, prontos para tudo.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6"/>
          <p:cNvSpPr/>
          <p:nvPr/>
        </p:nvSpPr>
        <p:spPr>
          <a:xfrm>
            <a:off x="6565850" y="6194971"/>
            <a:ext cx="5156150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7" name="Google Shape;87;p6"/>
          <p:cNvPicPr preferRelativeResize="0"/>
          <p:nvPr/>
        </p:nvPicPr>
        <p:blipFill rotWithShape="1">
          <a:blip r:embed="rId7">
            <a:alphaModFix/>
          </a:blip>
          <a:srcRect b="0" l="27842" r="27842" t="0"/>
          <a:stretch/>
        </p:blipFill>
        <p:spPr>
          <a:xfrm>
            <a:off x="6578501" y="6207621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6"/>
          <p:cNvSpPr/>
          <p:nvPr/>
        </p:nvSpPr>
        <p:spPr>
          <a:xfrm>
            <a:off x="8940701" y="6474321"/>
            <a:ext cx="2578150" cy="80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PÁGINA DE VENDAS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8940701" y="7350621"/>
            <a:ext cx="2578150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Uma página só, feita para um botão.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11988701" y="6194971"/>
            <a:ext cx="5156299" cy="3177629"/>
          </a:xfrm>
          <a:prstGeom prst="roundRect">
            <a:avLst>
              <a:gd fmla="val 3597" name="adj"/>
            </a:avLst>
          </a:prstGeom>
          <a:solidFill>
            <a:srgbClr val="FFFBF5"/>
          </a:solidFill>
          <a:ln cap="flat" cmpd="sng" w="12700">
            <a:solidFill>
              <a:srgbClr val="DDD2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1" name="Google Shape;91;p6"/>
          <p:cNvPicPr preferRelativeResize="0"/>
          <p:nvPr/>
        </p:nvPicPr>
        <p:blipFill rotWithShape="1">
          <a:blip r:embed="rId8">
            <a:alphaModFix/>
          </a:blip>
          <a:srcRect b="0" l="27853" r="27853" t="0"/>
          <a:stretch/>
        </p:blipFill>
        <p:spPr>
          <a:xfrm>
            <a:off x="12001351" y="6207621"/>
            <a:ext cx="2095500" cy="3152329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6"/>
          <p:cNvSpPr/>
          <p:nvPr/>
        </p:nvSpPr>
        <p:spPr>
          <a:xfrm>
            <a:off x="14363551" y="6474321"/>
            <a:ext cx="2752308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000"/>
              <a:buFont typeface="Barlow Condensed"/>
              <a:buNone/>
            </a:pPr>
            <a:r>
              <a:rPr b="1" i="0" lang="en-US" sz="3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SEO LOCAL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14363551" y="6969621"/>
            <a:ext cx="2578298" cy="6780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Aparecer no Google, na sua zona.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BF5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7"/>
          <p:cNvSpPr/>
          <p:nvPr/>
        </p:nvSpPr>
        <p:spPr>
          <a:xfrm>
            <a:off x="1143000" y="914400"/>
            <a:ext cx="7414141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BA410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BA410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 QUE FAZEMOS · 2 DE 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1143000" y="1401961"/>
            <a:ext cx="7414141" cy="9295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4880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7800"/>
              <a:buFont typeface="Barlow Condensed"/>
              <a:buNone/>
            </a:pPr>
            <a:r>
              <a:rPr b="1" i="0" lang="en-US" sz="78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REDES E ANÚNCIOS</a:t>
            </a:r>
            <a:endParaRPr b="0" i="0" sz="7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5598378" y="921841"/>
            <a:ext cx="1701284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3500"/>
              <a:buFont typeface="Barlow Condensed"/>
              <a:buNone/>
            </a:pPr>
            <a:r>
              <a:rPr b="1" i="0" lang="en-US" sz="135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03</a:t>
            </a:r>
            <a:endParaRPr b="0" i="0" sz="1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/>
          <p:nvPr/>
        </p:nvSpPr>
        <p:spPr>
          <a:xfrm>
            <a:off x="1143000" y="2750641"/>
            <a:ext cx="5156150" cy="6621959"/>
          </a:xfrm>
          <a:prstGeom prst="roundRect">
            <a:avLst>
              <a:gd fmla="val 2217" name="adj"/>
            </a:avLst>
          </a:prstGeom>
          <a:solidFill>
            <a:srgbClr val="F6EF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3" name="Google Shape;103;p7"/>
          <p:cNvPicPr preferRelativeResize="0"/>
          <p:nvPr/>
        </p:nvPicPr>
        <p:blipFill rotWithShape="1">
          <a:blip r:embed="rId3">
            <a:alphaModFix/>
          </a:blip>
          <a:srcRect b="0" l="2515" r="2515" t="0"/>
          <a:stretch/>
        </p:blipFill>
        <p:spPr>
          <a:xfrm>
            <a:off x="1143000" y="2750641"/>
            <a:ext cx="515615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7"/>
          <p:cNvSpPr/>
          <p:nvPr/>
        </p:nvSpPr>
        <p:spPr>
          <a:xfrm>
            <a:off x="1485900" y="6713041"/>
            <a:ext cx="4604461" cy="97899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41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900"/>
              <a:buFont typeface="Barlow Condensed"/>
              <a:buNone/>
            </a:pPr>
            <a:r>
              <a:rPr b="1" i="0" lang="en-US" sz="39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GESTÃO DE REDES SOCIAIS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7"/>
          <p:cNvSpPr/>
          <p:nvPr/>
        </p:nvSpPr>
        <p:spPr>
          <a:xfrm>
            <a:off x="1485900" y="7806333"/>
            <a:ext cx="4604461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Instagram e Facebook todos os meses: calendário, publicações e respostas.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6565850" y="2750641"/>
            <a:ext cx="5156150" cy="6621959"/>
          </a:xfrm>
          <a:prstGeom prst="roundRect">
            <a:avLst>
              <a:gd fmla="val 2217" name="adj"/>
            </a:avLst>
          </a:prstGeom>
          <a:solidFill>
            <a:srgbClr val="F6EF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07" name="Google Shape;107;p7"/>
          <p:cNvPicPr preferRelativeResize="0"/>
          <p:nvPr/>
        </p:nvPicPr>
        <p:blipFill rotWithShape="1">
          <a:blip r:embed="rId4">
            <a:alphaModFix/>
          </a:blip>
          <a:srcRect b="0" l="2515" r="2515" t="0"/>
          <a:stretch/>
        </p:blipFill>
        <p:spPr>
          <a:xfrm>
            <a:off x="6565850" y="2750641"/>
            <a:ext cx="5156150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7"/>
          <p:cNvSpPr/>
          <p:nvPr/>
        </p:nvSpPr>
        <p:spPr>
          <a:xfrm>
            <a:off x="6908750" y="6713041"/>
            <a:ext cx="4917385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41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900"/>
              <a:buFont typeface="Barlow Condensed"/>
              <a:buNone/>
            </a:pPr>
            <a:r>
              <a:rPr b="1" i="0" lang="en-US" sz="39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CRIAÇÃO DE CONTEÚDOS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/>
          <p:nvPr/>
        </p:nvSpPr>
        <p:spPr>
          <a:xfrm>
            <a:off x="6908750" y="7335887"/>
            <a:ext cx="4604461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Posts, carrosséis e vídeos curtos com a cara do seu negócio.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/>
          <p:nvPr/>
        </p:nvSpPr>
        <p:spPr>
          <a:xfrm>
            <a:off x="11988701" y="2750641"/>
            <a:ext cx="5156299" cy="6621959"/>
          </a:xfrm>
          <a:prstGeom prst="roundRect">
            <a:avLst>
              <a:gd fmla="val 2217" name="adj"/>
            </a:avLst>
          </a:prstGeom>
          <a:solidFill>
            <a:srgbClr val="F6EF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11" name="Google Shape;111;p7"/>
          <p:cNvPicPr preferRelativeResize="0"/>
          <p:nvPr/>
        </p:nvPicPr>
        <p:blipFill rotWithShape="1">
          <a:blip r:embed="rId5">
            <a:alphaModFix/>
          </a:blip>
          <a:srcRect b="0" l="2481" r="2481" t="0"/>
          <a:stretch/>
        </p:blipFill>
        <p:spPr>
          <a:xfrm>
            <a:off x="11988701" y="2750641"/>
            <a:ext cx="5156299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7"/>
          <p:cNvSpPr/>
          <p:nvPr/>
        </p:nvSpPr>
        <p:spPr>
          <a:xfrm>
            <a:off x="12331601" y="6713041"/>
            <a:ext cx="4917549" cy="508546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41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900"/>
              <a:buFont typeface="Barlow Condensed"/>
              <a:buNone/>
            </a:pPr>
            <a:r>
              <a:rPr b="1" i="0" lang="en-US" sz="39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ANÚNCIOS PAGOS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7"/>
          <p:cNvSpPr/>
          <p:nvPr/>
        </p:nvSpPr>
        <p:spPr>
          <a:xfrm>
            <a:off x="12331601" y="7335887"/>
            <a:ext cx="4604614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Meta, Google, YouTube, TikTok e LinkedIn, com o orçamento que definir.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210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8"/>
          <p:cNvSpPr/>
          <p:nvPr/>
        </p:nvSpPr>
        <p:spPr>
          <a:xfrm>
            <a:off x="1143000" y="914400"/>
            <a:ext cx="1760220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EC5B13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OS NOSSOS MODELOS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8"/>
          <p:cNvSpPr/>
          <p:nvPr/>
        </p:nvSpPr>
        <p:spPr>
          <a:xfrm>
            <a:off x="1143000" y="1401961"/>
            <a:ext cx="16482060" cy="1924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8250"/>
              <a:buFont typeface="Barlow Condensed"/>
              <a:buNone/>
            </a:pPr>
            <a:r>
              <a:rPr b="1" i="0" lang="en-US" sz="82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TEMOS O SITE CERTO </a:t>
            </a:r>
            <a:r>
              <a:rPr b="1" i="0" lang="en-US" sz="825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PARA O SEU NEGÓCIO.</a:t>
            </a:r>
            <a:endParaRPr b="0" i="0" sz="8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8"/>
          <p:cNvSpPr/>
          <p:nvPr/>
        </p:nvSpPr>
        <p:spPr>
          <a:xfrm>
            <a:off x="11430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2" name="Google Shape;122;p8"/>
          <p:cNvPicPr preferRelativeResize="0"/>
          <p:nvPr/>
        </p:nvPicPr>
        <p:blipFill rotWithShape="1">
          <a:blip r:embed="rId3">
            <a:alphaModFix/>
          </a:blip>
          <a:srcRect b="29670" l="0" r="0" t="0"/>
          <a:stretch/>
        </p:blipFill>
        <p:spPr>
          <a:xfrm>
            <a:off x="11430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8"/>
          <p:cNvSpPr/>
          <p:nvPr/>
        </p:nvSpPr>
        <p:spPr>
          <a:xfrm>
            <a:off x="11430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FORNO &amp; BRASA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8"/>
          <p:cNvSpPr/>
          <p:nvPr/>
        </p:nvSpPr>
        <p:spPr>
          <a:xfrm>
            <a:off x="1143000" y="7174111"/>
            <a:ext cx="2286000" cy="6322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Padarias e restaurantes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/>
          <p:nvPr/>
        </p:nvSpPr>
        <p:spPr>
          <a:xfrm>
            <a:off x="35814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26" name="Google Shape;126;p8"/>
          <p:cNvPicPr preferRelativeResize="0"/>
          <p:nvPr/>
        </p:nvPicPr>
        <p:blipFill rotWithShape="1">
          <a:blip r:embed="rId4">
            <a:alphaModFix/>
          </a:blip>
          <a:srcRect b="29664" l="0" r="0" t="0"/>
          <a:stretch/>
        </p:blipFill>
        <p:spPr>
          <a:xfrm>
            <a:off x="35814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8"/>
          <p:cNvSpPr/>
          <p:nvPr/>
        </p:nvSpPr>
        <p:spPr>
          <a:xfrm>
            <a:off x="35814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CLÍNICA VALE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3581400" y="7174111"/>
            <a:ext cx="243078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Clínicas e estética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8"/>
          <p:cNvSpPr/>
          <p:nvPr/>
        </p:nvSpPr>
        <p:spPr>
          <a:xfrm>
            <a:off x="60198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0" name="Google Shape;130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198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8"/>
          <p:cNvSpPr/>
          <p:nvPr/>
        </p:nvSpPr>
        <p:spPr>
          <a:xfrm>
            <a:off x="60198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PREDIAL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/>
          <p:nvPr/>
        </p:nvSpPr>
        <p:spPr>
          <a:xfrm>
            <a:off x="6019800" y="7174111"/>
            <a:ext cx="2286000" cy="6322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Imobiliárias e advogados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/>
          <p:nvPr/>
        </p:nvSpPr>
        <p:spPr>
          <a:xfrm>
            <a:off x="84582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4" name="Google Shape;134;p8"/>
          <p:cNvPicPr preferRelativeResize="0"/>
          <p:nvPr/>
        </p:nvPicPr>
        <p:blipFill rotWithShape="1">
          <a:blip r:embed="rId6">
            <a:alphaModFix/>
          </a:blip>
          <a:srcRect b="29650" l="0" r="0" t="0"/>
          <a:stretch/>
        </p:blipFill>
        <p:spPr>
          <a:xfrm>
            <a:off x="84582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8"/>
          <p:cNvSpPr/>
          <p:nvPr/>
        </p:nvSpPr>
        <p:spPr>
          <a:xfrm>
            <a:off x="84582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RETRATO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8"/>
          <p:cNvSpPr/>
          <p:nvPr/>
        </p:nvSpPr>
        <p:spPr>
          <a:xfrm>
            <a:off x="8458200" y="7174111"/>
            <a:ext cx="2286000" cy="63222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Quem trabalha sozinho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/>
          <p:nvPr/>
        </p:nvSpPr>
        <p:spPr>
          <a:xfrm>
            <a:off x="108966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38" name="Google Shape;138;p8"/>
          <p:cNvPicPr preferRelativeResize="0"/>
          <p:nvPr/>
        </p:nvPicPr>
        <p:blipFill rotWithShape="1">
          <a:blip r:embed="rId7">
            <a:alphaModFix/>
          </a:blip>
          <a:srcRect b="37500" l="0" r="0" t="0"/>
          <a:stretch/>
        </p:blipFill>
        <p:spPr>
          <a:xfrm>
            <a:off x="108966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8"/>
          <p:cNvSpPr/>
          <p:nvPr/>
        </p:nvSpPr>
        <p:spPr>
          <a:xfrm>
            <a:off x="108966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OFICINA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/>
          <p:nvPr/>
        </p:nvSpPr>
        <p:spPr>
          <a:xfrm>
            <a:off x="10896600" y="7174111"/>
            <a:ext cx="243078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Fábricas e B2B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/>
          <p:nvPr/>
        </p:nvSpPr>
        <p:spPr>
          <a:xfrm>
            <a:off x="133350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2" name="Google Shape;142;p8"/>
          <p:cNvPicPr preferRelativeResize="0"/>
          <p:nvPr/>
        </p:nvPicPr>
        <p:blipFill rotWithShape="1">
          <a:blip r:embed="rId8">
            <a:alphaModFix/>
          </a:blip>
          <a:srcRect b="0" l="20000" r="20000" t="0"/>
          <a:stretch/>
        </p:blipFill>
        <p:spPr>
          <a:xfrm>
            <a:off x="133350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8"/>
          <p:cNvSpPr/>
          <p:nvPr/>
        </p:nvSpPr>
        <p:spPr>
          <a:xfrm>
            <a:off x="133350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ESTRADA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13335000" y="7174111"/>
            <a:ext cx="243078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Transportes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8"/>
          <p:cNvSpPr/>
          <p:nvPr/>
        </p:nvSpPr>
        <p:spPr>
          <a:xfrm>
            <a:off x="15773400" y="3821311"/>
            <a:ext cx="2209800" cy="2762250"/>
          </a:xfrm>
          <a:prstGeom prst="roundRect">
            <a:avLst>
              <a:gd fmla="val 5172" name="adj"/>
            </a:avLst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46" name="Google Shape;146;p8"/>
          <p:cNvPicPr preferRelativeResize="0"/>
          <p:nvPr/>
        </p:nvPicPr>
        <p:blipFill rotWithShape="1">
          <a:blip r:embed="rId9">
            <a:alphaModFix/>
          </a:blip>
          <a:srcRect b="16667" l="0" r="0" t="0"/>
          <a:stretch/>
        </p:blipFill>
        <p:spPr>
          <a:xfrm>
            <a:off x="15773400" y="3821311"/>
            <a:ext cx="2209800" cy="276225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8"/>
          <p:cNvSpPr/>
          <p:nvPr/>
        </p:nvSpPr>
        <p:spPr>
          <a:xfrm>
            <a:off x="15773400" y="6755011"/>
            <a:ext cx="243078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60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2850"/>
              <a:buFont typeface="Barlow Condensed"/>
              <a:buNone/>
            </a:pPr>
            <a:r>
              <a:rPr b="1" i="0" lang="en-US" sz="285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NEON</a:t>
            </a:r>
            <a:endParaRPr b="0" i="0" sz="28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15773400" y="7174111"/>
            <a:ext cx="243078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7500"/>
              </a:lnSpc>
              <a:spcBef>
                <a:spcPts val="0"/>
              </a:spcBef>
              <a:spcAft>
                <a:spcPts val="0"/>
              </a:spcAft>
              <a:buClr>
                <a:srgbClr val="BDB3A6"/>
              </a:buClr>
              <a:buSzPts val="1800"/>
              <a:buFont typeface="Hanken Grotesk"/>
              <a:buNone/>
            </a:pPr>
            <a:r>
              <a:rPr b="0" i="0" lang="en-US" sz="1800" u="none" cap="none" strike="noStrike">
                <a:solidFill>
                  <a:srgbClr val="BDB3A6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Lojas de roupa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5B13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"/>
          <p:cNvSpPr/>
          <p:nvPr/>
        </p:nvSpPr>
        <p:spPr>
          <a:xfrm>
            <a:off x="1143000" y="2628007"/>
            <a:ext cx="905256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E SE NENHUM SERVIR?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/>
          <p:nvPr/>
        </p:nvSpPr>
        <p:spPr>
          <a:xfrm>
            <a:off x="1143000" y="3306068"/>
            <a:ext cx="8476488" cy="255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1250"/>
              <a:buFont typeface="Barlow Condensed"/>
              <a:buNone/>
            </a:pPr>
            <a:r>
              <a:rPr b="1" i="0" lang="en-US" sz="1125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FAZEMOS UM À SUA MEDIDA.</a:t>
            </a:r>
            <a:endParaRPr b="0" i="0" sz="1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/>
          <p:nvPr/>
        </p:nvSpPr>
        <p:spPr>
          <a:xfrm>
            <a:off x="1143000" y="6201668"/>
            <a:ext cx="8476488" cy="14954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33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2550"/>
              <a:buFont typeface="Hanken Grotesk"/>
              <a:buNone/>
            </a:pPr>
            <a:r>
              <a:rPr b="0" i="0" lang="en-US" sz="25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Os modelos são só o ponto de partida. Temos muitas mais opções e desenhamos o site a partir do que o seu negócio precisa — do zero, se for esse o caminho.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/>
          <p:nvPr/>
        </p:nvSpPr>
        <p:spPr>
          <a:xfrm rot="-359998">
            <a:off x="10287000" y="2286000"/>
            <a:ext cx="3810000" cy="4762500"/>
          </a:xfrm>
          <a:prstGeom prst="roundRect">
            <a:avLst>
              <a:gd fmla="val 3000" name="adj"/>
            </a:avLst>
          </a:prstGeom>
          <a:noFill/>
          <a:ln cap="flat" cmpd="sng" w="76200">
            <a:solidFill>
              <a:srgbClr val="F6EF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58" name="Google Shape;158;p9"/>
          <p:cNvPicPr preferRelativeResize="0"/>
          <p:nvPr/>
        </p:nvPicPr>
        <p:blipFill rotWithShape="1">
          <a:blip r:embed="rId3">
            <a:alphaModFix/>
          </a:blip>
          <a:srcRect b="29650" l="0" r="0" t="0"/>
          <a:stretch/>
        </p:blipFill>
        <p:spPr>
          <a:xfrm rot="-359998">
            <a:off x="10287000" y="2286000"/>
            <a:ext cx="3810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9"/>
          <p:cNvSpPr/>
          <p:nvPr/>
        </p:nvSpPr>
        <p:spPr>
          <a:xfrm rot="300001">
            <a:off x="13334999" y="3428999"/>
            <a:ext cx="3810001" cy="4762502"/>
          </a:xfrm>
          <a:prstGeom prst="roundRect">
            <a:avLst>
              <a:gd fmla="val 3000" name="adj"/>
            </a:avLst>
          </a:prstGeom>
          <a:noFill/>
          <a:ln cap="flat" cmpd="sng" w="76200">
            <a:solidFill>
              <a:srgbClr val="F6EF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60" name="Google Shape;160;p9"/>
          <p:cNvPicPr preferRelativeResize="0"/>
          <p:nvPr/>
        </p:nvPicPr>
        <p:blipFill rotWithShape="1">
          <a:blip r:embed="rId4">
            <a:alphaModFix/>
          </a:blip>
          <a:srcRect b="16667" l="0" r="0" t="0"/>
          <a:stretch/>
        </p:blipFill>
        <p:spPr>
          <a:xfrm rot="300001">
            <a:off x="13334999" y="3428999"/>
            <a:ext cx="3810001" cy="476250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9"/>
          <p:cNvSpPr/>
          <p:nvPr/>
        </p:nvSpPr>
        <p:spPr>
          <a:xfrm rot="-599999">
            <a:off x="12477750" y="1333500"/>
            <a:ext cx="2476501" cy="2476501"/>
          </a:xfrm>
          <a:prstGeom prst="ellipse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"/>
          <p:cNvSpPr/>
          <p:nvPr/>
        </p:nvSpPr>
        <p:spPr>
          <a:xfrm>
            <a:off x="13098740" y="1800761"/>
            <a:ext cx="1116104" cy="908508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74851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6300"/>
              <a:buFont typeface="Barlow Condensed"/>
              <a:buNone/>
            </a:pPr>
            <a:r>
              <a:rPr b="1" i="0" lang="en-US" sz="63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0 €</a:t>
            </a:r>
            <a:endParaRPr b="0" i="0" sz="6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9"/>
          <p:cNvSpPr/>
          <p:nvPr/>
        </p:nvSpPr>
        <p:spPr>
          <a:xfrm>
            <a:off x="12979150" y="2593986"/>
            <a:ext cx="1621742" cy="8340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1800"/>
              <a:buFont typeface="Hanken Grotesk"/>
              <a:buNone/>
            </a:pPr>
            <a:r>
              <a:rPr b="1" i="0" lang="en-US" sz="18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ATÉ VER A PROPOSTA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6EFE4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"/>
          <p:cNvSpPr/>
          <p:nvPr/>
        </p:nvSpPr>
        <p:spPr>
          <a:xfrm>
            <a:off x="1143000" y="1143000"/>
            <a:ext cx="1760220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BA410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BA410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COMO TRABALHAMOS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1143000" y="1630561"/>
            <a:ext cx="16482060" cy="2095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9000"/>
              <a:buFont typeface="Barlow Condensed"/>
              <a:buNone/>
            </a:pPr>
            <a:r>
              <a:rPr b="1" i="0" lang="en-US" sz="9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DO OLÁ AO SITE NO AR, </a:t>
            </a:r>
            <a:r>
              <a:rPr b="1" i="0" lang="en-US" sz="9000" u="none" cap="none" strike="noStrike">
                <a:solidFill>
                  <a:srgbClr val="BA410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EM QUATRO PASSOS.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0"/>
          <p:cNvSpPr/>
          <p:nvPr/>
        </p:nvSpPr>
        <p:spPr>
          <a:xfrm>
            <a:off x="1143000" y="6089749"/>
            <a:ext cx="16002000" cy="19050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10"/>
          <p:cNvSpPr/>
          <p:nvPr/>
        </p:nvSpPr>
        <p:spPr>
          <a:xfrm>
            <a:off x="1143000" y="6489799"/>
            <a:ext cx="3981450" cy="815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034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7200"/>
              <a:buFont typeface="Barlow Condensed"/>
              <a:buNone/>
            </a:pPr>
            <a:r>
              <a:rPr b="1" i="0" lang="en-US" sz="72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01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1143000" y="7438430"/>
            <a:ext cx="3981450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600"/>
              <a:buFont typeface="Barlow Condensed"/>
              <a:buNone/>
            </a:pPr>
            <a:r>
              <a:rPr b="1" i="0" lang="en-US" sz="36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CONVERSA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0"/>
          <p:cNvSpPr/>
          <p:nvPr/>
        </p:nvSpPr>
        <p:spPr>
          <a:xfrm>
            <a:off x="1143000" y="8067080"/>
            <a:ext cx="3728085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Conta-nos o que faz e o que precisa, por WhatsApp.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5143500" y="6108799"/>
            <a:ext cx="12700" cy="3035201"/>
          </a:xfrm>
          <a:prstGeom prst="rect">
            <a:avLst/>
          </a:prstGeom>
          <a:solidFill>
            <a:srgbClr val="DDD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/>
          <p:nvPr/>
        </p:nvSpPr>
        <p:spPr>
          <a:xfrm>
            <a:off x="5537150" y="6489799"/>
            <a:ext cx="3548435" cy="815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034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7200"/>
              <a:buFont typeface="Barlow Condensed"/>
              <a:buNone/>
            </a:pPr>
            <a:r>
              <a:rPr b="1" i="0" lang="en-US" sz="72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02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5537150" y="7438430"/>
            <a:ext cx="354843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600"/>
              <a:buFont typeface="Barlow Condensed"/>
              <a:buNone/>
            </a:pPr>
            <a:r>
              <a:rPr b="1" i="0" lang="en-US" sz="36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PROPOSTA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0"/>
          <p:cNvSpPr/>
          <p:nvPr/>
        </p:nvSpPr>
        <p:spPr>
          <a:xfrm>
            <a:off x="5537150" y="8067080"/>
            <a:ext cx="3322625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Por escrito, com o preço e o prazo fechados. Sem custo.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/>
          <p:nvPr/>
        </p:nvSpPr>
        <p:spPr>
          <a:xfrm>
            <a:off x="9144000" y="6108799"/>
            <a:ext cx="12700" cy="3035201"/>
          </a:xfrm>
          <a:prstGeom prst="rect">
            <a:avLst/>
          </a:prstGeom>
          <a:solidFill>
            <a:srgbClr val="DDD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10"/>
          <p:cNvSpPr/>
          <p:nvPr/>
        </p:nvSpPr>
        <p:spPr>
          <a:xfrm>
            <a:off x="9537650" y="6489799"/>
            <a:ext cx="3548435" cy="815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034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7200"/>
              <a:buFont typeface="Barlow Condensed"/>
              <a:buNone/>
            </a:pPr>
            <a:r>
              <a:rPr b="1" i="0" lang="en-US" sz="72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03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0"/>
          <p:cNvSpPr/>
          <p:nvPr/>
        </p:nvSpPr>
        <p:spPr>
          <a:xfrm>
            <a:off x="9537650" y="7438430"/>
            <a:ext cx="354843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600"/>
              <a:buFont typeface="Barlow Condensed"/>
              <a:buNone/>
            </a:pPr>
            <a:r>
              <a:rPr b="1" i="0" lang="en-US" sz="36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MONTAGEM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0"/>
          <p:cNvSpPr/>
          <p:nvPr/>
        </p:nvSpPr>
        <p:spPr>
          <a:xfrm>
            <a:off x="9537650" y="8067080"/>
            <a:ext cx="3322625" cy="1115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Textos, cores e fotografias no seu site. Vê e pede alterações.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13144500" y="6108799"/>
            <a:ext cx="12700" cy="3035201"/>
          </a:xfrm>
          <a:prstGeom prst="rect">
            <a:avLst/>
          </a:prstGeom>
          <a:solidFill>
            <a:srgbClr val="DDD2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"/>
          <p:cNvSpPr/>
          <p:nvPr/>
        </p:nvSpPr>
        <p:spPr>
          <a:xfrm>
            <a:off x="13538150" y="6489799"/>
            <a:ext cx="3967535" cy="8152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0345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7200"/>
              <a:buFont typeface="Barlow Condensed"/>
              <a:buNone/>
            </a:pPr>
            <a:r>
              <a:rPr b="1" i="0" lang="en-US" sz="72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04</a:t>
            </a:r>
            <a:endParaRPr b="0" i="0" sz="7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0"/>
          <p:cNvSpPr/>
          <p:nvPr/>
        </p:nvSpPr>
        <p:spPr>
          <a:xfrm>
            <a:off x="13538150" y="7438430"/>
            <a:ext cx="3967535" cy="495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27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3600"/>
              <a:buFont typeface="Barlow Condensed"/>
              <a:buNone/>
            </a:pPr>
            <a:r>
              <a:rPr b="1" i="0" lang="en-US" sz="36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NO AR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3538150" y="8067080"/>
            <a:ext cx="3715055" cy="75604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882"/>
              </a:lnSpc>
              <a:spcBef>
                <a:spcPts val="0"/>
              </a:spcBef>
              <a:spcAft>
                <a:spcPts val="0"/>
              </a:spcAft>
              <a:buClr>
                <a:srgbClr val="5A5249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5A5249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Publicado no seu domínio, registado em seu nome.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C5B13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1"/>
          <p:cNvSpPr/>
          <p:nvPr/>
        </p:nvSpPr>
        <p:spPr>
          <a:xfrm>
            <a:off x="1143000" y="1143000"/>
            <a:ext cx="17602200" cy="33516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176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O QUE PODE ESPERAR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1"/>
          <p:cNvSpPr/>
          <p:nvPr/>
        </p:nvSpPr>
        <p:spPr>
          <a:xfrm>
            <a:off x="1143000" y="2808833"/>
            <a:ext cx="19050" cy="4718596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1"/>
          <p:cNvSpPr/>
          <p:nvPr/>
        </p:nvSpPr>
        <p:spPr>
          <a:xfrm>
            <a:off x="1543050" y="2808833"/>
            <a:ext cx="3541395" cy="18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8000"/>
              <a:buFont typeface="Barlow Condensed"/>
              <a:buNone/>
            </a:pPr>
            <a:r>
              <a:rPr b="1" i="0" lang="en-US" sz="18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7</a:t>
            </a:r>
            <a:endParaRPr b="0" i="0" sz="1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1"/>
          <p:cNvSpPr/>
          <p:nvPr/>
        </p:nvSpPr>
        <p:spPr>
          <a:xfrm>
            <a:off x="1543050" y="4828133"/>
            <a:ext cx="354139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59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MODELOS PRONTOS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1"/>
          <p:cNvSpPr/>
          <p:nvPr/>
        </p:nvSpPr>
        <p:spPr>
          <a:xfrm>
            <a:off x="1543050" y="5352008"/>
            <a:ext cx="3541395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70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Veja-os antes de decidir.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1"/>
          <p:cNvSpPr/>
          <p:nvPr/>
        </p:nvSpPr>
        <p:spPr>
          <a:xfrm>
            <a:off x="5143500" y="2808833"/>
            <a:ext cx="19050" cy="4718596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11"/>
          <p:cNvSpPr/>
          <p:nvPr/>
        </p:nvSpPr>
        <p:spPr>
          <a:xfrm>
            <a:off x="5543550" y="2808833"/>
            <a:ext cx="3316034" cy="369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8000"/>
              <a:buFont typeface="Barlow Condensed"/>
              <a:buNone/>
            </a:pPr>
            <a:r>
              <a:rPr b="1" i="0" lang="en-US" sz="18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48 h</a:t>
            </a:r>
            <a:endParaRPr b="0" i="0" sz="1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/>
          <p:nvPr/>
        </p:nvSpPr>
        <p:spPr>
          <a:xfrm>
            <a:off x="5543550" y="6656933"/>
            <a:ext cx="354139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59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DO SIM AO SITE NO AR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1"/>
          <p:cNvSpPr/>
          <p:nvPr/>
        </p:nvSpPr>
        <p:spPr>
          <a:xfrm>
            <a:off x="5543550" y="7180808"/>
            <a:ext cx="3541395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70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Com o material entregue.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1"/>
          <p:cNvSpPr/>
          <p:nvPr/>
        </p:nvSpPr>
        <p:spPr>
          <a:xfrm>
            <a:off x="9144000" y="2808833"/>
            <a:ext cx="19050" cy="4718596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1"/>
          <p:cNvSpPr/>
          <p:nvPr/>
        </p:nvSpPr>
        <p:spPr>
          <a:xfrm>
            <a:off x="9544050" y="2808833"/>
            <a:ext cx="3541395" cy="18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8000"/>
              <a:buFont typeface="Barlow Condensed"/>
              <a:buNone/>
            </a:pPr>
            <a:r>
              <a:rPr b="1" i="0" lang="en-US" sz="18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1</a:t>
            </a:r>
            <a:endParaRPr b="0" i="0" sz="1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11"/>
          <p:cNvSpPr/>
          <p:nvPr/>
        </p:nvSpPr>
        <p:spPr>
          <a:xfrm>
            <a:off x="9544050" y="4828133"/>
            <a:ext cx="354139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59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PESSOA A RESPONDER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1"/>
          <p:cNvSpPr/>
          <p:nvPr/>
        </p:nvSpPr>
        <p:spPr>
          <a:xfrm>
            <a:off x="9544050" y="5352008"/>
            <a:ext cx="3541395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70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Sempre a mesma.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1"/>
          <p:cNvSpPr/>
          <p:nvPr/>
        </p:nvSpPr>
        <p:spPr>
          <a:xfrm>
            <a:off x="13144500" y="2808833"/>
            <a:ext cx="19050" cy="4718596"/>
          </a:xfrm>
          <a:prstGeom prst="rect">
            <a:avLst/>
          </a:prstGeom>
          <a:solidFill>
            <a:srgbClr val="14121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1"/>
          <p:cNvSpPr/>
          <p:nvPr/>
        </p:nvSpPr>
        <p:spPr>
          <a:xfrm>
            <a:off x="13544550" y="2808833"/>
            <a:ext cx="3541395" cy="18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6667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8000"/>
              <a:buFont typeface="Barlow Condensed"/>
              <a:buNone/>
            </a:pPr>
            <a:r>
              <a:rPr b="1" i="0" lang="en-US" sz="18000" u="none" cap="none" strike="noStrike">
                <a:solidFill>
                  <a:srgbClr val="141210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0 €</a:t>
            </a:r>
            <a:endParaRPr b="0" i="0" sz="18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/>
          <p:nvPr/>
        </p:nvSpPr>
        <p:spPr>
          <a:xfrm>
            <a:off x="13544550" y="4828133"/>
            <a:ext cx="3541395" cy="3714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4595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2100"/>
              <a:buFont typeface="Hanken Grotesk"/>
              <a:buNone/>
            </a:pPr>
            <a:r>
              <a:rPr b="1" i="0" lang="en-US" sz="210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ATÉ VER A PROPOSTA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13544550" y="5352008"/>
            <a:ext cx="3541395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07059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0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Por escrito, preço fechado.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1143000" y="8896201"/>
            <a:ext cx="3335774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4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DOMÍNIO EM SEU NOME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4632722" y="8896201"/>
            <a:ext cx="16951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4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·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5183237" y="8896201"/>
            <a:ext cx="2532608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4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SEM FIDELIZAÇÃO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1"/>
          <p:cNvSpPr/>
          <p:nvPr/>
        </p:nvSpPr>
        <p:spPr>
          <a:xfrm>
            <a:off x="7942808" y="8896201"/>
            <a:ext cx="169515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4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·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8493323" y="8896201"/>
            <a:ext cx="382085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471"/>
              </a:lnSpc>
              <a:spcBef>
                <a:spcPts val="0"/>
              </a:spcBef>
              <a:spcAft>
                <a:spcPts val="0"/>
              </a:spcAft>
              <a:buClr>
                <a:srgbClr val="141210"/>
              </a:buClr>
              <a:buSzPts val="1950"/>
              <a:buFont typeface="Hanken Grotesk"/>
              <a:buNone/>
            </a:pPr>
            <a:r>
              <a:rPr b="1" i="0" lang="en-US" sz="1950" u="none" cap="none" strike="noStrike">
                <a:solidFill>
                  <a:srgbClr val="141210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RESPOSTA NO PRÓPRIO DIA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1210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2"/>
          <p:cNvSpPr/>
          <p:nvPr/>
        </p:nvSpPr>
        <p:spPr>
          <a:xfrm>
            <a:off x="11620500" y="3810000"/>
            <a:ext cx="8572500" cy="9144000"/>
          </a:xfrm>
          <a:custGeom>
            <a:rect b="b" l="l" r="r" t="t"/>
            <a:pathLst>
              <a:path extrusionOk="0" h="9144000" w="8572500">
                <a:moveTo>
                  <a:pt x="4286250" y="0"/>
                </a:moveTo>
                <a:lnTo>
                  <a:pt x="5314950" y="0"/>
                </a:lnTo>
                <a:cubicBezTo>
                  <a:pt x="6178906" y="0"/>
                  <a:pt x="7007477" y="343205"/>
                  <a:pt x="7618386" y="954114"/>
                </a:cubicBezTo>
                <a:cubicBezTo>
                  <a:pt x="8229295" y="1565023"/>
                  <a:pt x="8572500" y="2393594"/>
                  <a:pt x="8572500" y="3257550"/>
                </a:cubicBezTo>
                <a:lnTo>
                  <a:pt x="8572500" y="5200650"/>
                </a:lnTo>
                <a:cubicBezTo>
                  <a:pt x="8572500" y="7378502"/>
                  <a:pt x="6807002" y="9144000"/>
                  <a:pt x="4629150" y="9144000"/>
                </a:cubicBezTo>
                <a:lnTo>
                  <a:pt x="4286250" y="9144000"/>
                </a:lnTo>
                <a:cubicBezTo>
                  <a:pt x="1919019" y="9144000"/>
                  <a:pt x="0" y="7224981"/>
                  <a:pt x="0" y="4857750"/>
                </a:cubicBezTo>
                <a:lnTo>
                  <a:pt x="0" y="4286250"/>
                </a:lnTo>
                <a:cubicBezTo>
                  <a:pt x="0" y="1919019"/>
                  <a:pt x="1919019" y="0"/>
                  <a:pt x="4286250" y="0"/>
                </a:cubicBezTo>
                <a:close/>
              </a:path>
            </a:pathLst>
          </a:cu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2"/>
          <p:cNvSpPr/>
          <p:nvPr/>
        </p:nvSpPr>
        <p:spPr>
          <a:xfrm>
            <a:off x="1143000" y="965002"/>
            <a:ext cx="942061" cy="1047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64754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6600"/>
              <a:buFont typeface="Barlow Condensed"/>
              <a:buNone/>
            </a:pPr>
            <a:r>
              <a:rPr b="1" i="0" lang="en-US" sz="660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vaı</a:t>
            </a:r>
            <a:endParaRPr b="0" i="0" sz="6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12"/>
          <p:cNvSpPr/>
          <p:nvPr/>
        </p:nvSpPr>
        <p:spPr>
          <a:xfrm>
            <a:off x="2101007" y="1126331"/>
            <a:ext cx="159246" cy="159246"/>
          </a:xfrm>
          <a:prstGeom prst="ellipse">
            <a:avLst/>
          </a:prstGeom>
          <a:solidFill>
            <a:srgbClr val="EC5B1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2"/>
          <p:cNvSpPr/>
          <p:nvPr/>
        </p:nvSpPr>
        <p:spPr>
          <a:xfrm>
            <a:off x="2094309" y="1587103"/>
            <a:ext cx="1493699" cy="28947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429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1979"/>
              <a:buFont typeface="JetBrains Mono"/>
              <a:buNone/>
            </a:pPr>
            <a:r>
              <a:rPr b="0" i="0" lang="en-US" sz="1980" u="none" cap="none" strike="noStrike">
                <a:solidFill>
                  <a:srgbClr val="F6EFE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DESIGN</a:t>
            </a:r>
            <a:endParaRPr b="0" i="0" sz="1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2"/>
          <p:cNvSpPr/>
          <p:nvPr/>
        </p:nvSpPr>
        <p:spPr>
          <a:xfrm>
            <a:off x="1143000" y="2413695"/>
            <a:ext cx="16482060" cy="2986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1667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13500"/>
              <a:buFont typeface="Barlow Condensed"/>
              <a:buNone/>
            </a:pPr>
            <a:r>
              <a:rPr b="1" i="0" lang="en-US" sz="13500" u="none" cap="none" strike="noStrike">
                <a:solidFill>
                  <a:srgbClr val="F6EFE4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VAMOS </a:t>
            </a:r>
            <a:r>
              <a:rPr b="1" i="0" lang="en-US" sz="13500" u="none" cap="none" strike="noStrike">
                <a:solidFill>
                  <a:srgbClr val="EC5B13"/>
                </a:solidFill>
                <a:latin typeface="Barlow Condensed"/>
                <a:ea typeface="Barlow Condensed"/>
                <a:cs typeface="Barlow Condensed"/>
                <a:sym typeface="Barlow Condensed"/>
              </a:rPr>
              <a:t>A ISSO?</a:t>
            </a:r>
            <a:endParaRPr b="0" i="0" sz="13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2"/>
          <p:cNvSpPr/>
          <p:nvPr/>
        </p:nvSpPr>
        <p:spPr>
          <a:xfrm>
            <a:off x="1143000" y="5895975"/>
            <a:ext cx="9525000" cy="19050"/>
          </a:xfrm>
          <a:prstGeom prst="rect">
            <a:avLst/>
          </a:prstGeom>
          <a:solidFill>
            <a:srgbClr val="F6EFE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12"/>
          <p:cNvSpPr/>
          <p:nvPr/>
        </p:nvSpPr>
        <p:spPr>
          <a:xfrm>
            <a:off x="1143000" y="6715125"/>
            <a:ext cx="9525000" cy="9525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2"/>
          <p:cNvSpPr/>
          <p:nvPr/>
        </p:nvSpPr>
        <p:spPr>
          <a:xfrm>
            <a:off x="1143000" y="6200775"/>
            <a:ext cx="2514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EC5B1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WHATSAPP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2"/>
          <p:cNvSpPr/>
          <p:nvPr/>
        </p:nvSpPr>
        <p:spPr>
          <a:xfrm>
            <a:off x="3429000" y="6124575"/>
            <a:ext cx="79629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472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3000"/>
              <a:buFont typeface="Hanken Grotesk"/>
              <a:buNone/>
            </a:pPr>
            <a:r>
              <a:rPr b="1" i="0" lang="en-US" sz="30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+351 913 014 170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2"/>
          <p:cNvSpPr/>
          <p:nvPr/>
        </p:nvSpPr>
        <p:spPr>
          <a:xfrm>
            <a:off x="1143000" y="7524750"/>
            <a:ext cx="9525000" cy="9525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2"/>
          <p:cNvSpPr/>
          <p:nvPr/>
        </p:nvSpPr>
        <p:spPr>
          <a:xfrm>
            <a:off x="1143000" y="7010400"/>
            <a:ext cx="2514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EC5B1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EMAIL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2"/>
          <p:cNvSpPr/>
          <p:nvPr/>
        </p:nvSpPr>
        <p:spPr>
          <a:xfrm>
            <a:off x="3429000" y="6934200"/>
            <a:ext cx="79629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472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3000"/>
              <a:buFont typeface="Hanken Grotesk"/>
              <a:buNone/>
            </a:pPr>
            <a:r>
              <a:rPr b="1" i="0" lang="en-US" sz="30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geral@vaidesign.net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2"/>
          <p:cNvSpPr/>
          <p:nvPr/>
        </p:nvSpPr>
        <p:spPr>
          <a:xfrm>
            <a:off x="1143000" y="8334375"/>
            <a:ext cx="9525000" cy="9525"/>
          </a:xfrm>
          <a:prstGeom prst="rect">
            <a:avLst/>
          </a:prstGeom>
          <a:solidFill>
            <a:srgbClr val="3A34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2"/>
          <p:cNvSpPr/>
          <p:nvPr/>
        </p:nvSpPr>
        <p:spPr>
          <a:xfrm>
            <a:off x="1143000" y="7820025"/>
            <a:ext cx="2514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EC5B1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2"/>
          <p:cNvSpPr/>
          <p:nvPr/>
        </p:nvSpPr>
        <p:spPr>
          <a:xfrm>
            <a:off x="3429000" y="7743825"/>
            <a:ext cx="79629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472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3000"/>
              <a:buFont typeface="Hanken Grotesk"/>
              <a:buNone/>
            </a:pPr>
            <a:r>
              <a:rPr b="1" i="0" lang="en-US" sz="30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vaidesign.net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2"/>
          <p:cNvSpPr/>
          <p:nvPr/>
        </p:nvSpPr>
        <p:spPr>
          <a:xfrm>
            <a:off x="1143000" y="8629650"/>
            <a:ext cx="25146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727"/>
              </a:lnSpc>
              <a:spcBef>
                <a:spcPts val="0"/>
              </a:spcBef>
              <a:spcAft>
                <a:spcPts val="0"/>
              </a:spcAft>
              <a:buClr>
                <a:srgbClr val="EC5B13"/>
              </a:buClr>
              <a:buSzPts val="1800"/>
              <a:buFont typeface="JetBrains Mono"/>
              <a:buNone/>
            </a:pPr>
            <a:r>
              <a:rPr b="0" i="0" lang="en-US" sz="1800" u="none" cap="none" strike="noStrike">
                <a:solidFill>
                  <a:srgbClr val="EC5B13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INSTAGRAM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2"/>
          <p:cNvSpPr/>
          <p:nvPr/>
        </p:nvSpPr>
        <p:spPr>
          <a:xfrm>
            <a:off x="3429000" y="8553450"/>
            <a:ext cx="7962900" cy="41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5472"/>
              </a:lnSpc>
              <a:spcBef>
                <a:spcPts val="0"/>
              </a:spcBef>
              <a:spcAft>
                <a:spcPts val="0"/>
              </a:spcAft>
              <a:buClr>
                <a:srgbClr val="F6EFE4"/>
              </a:buClr>
              <a:buSzPts val="3000"/>
              <a:buFont typeface="Hanken Grotesk"/>
              <a:buNone/>
            </a:pPr>
            <a:r>
              <a:rPr b="1" i="0" lang="en-US" sz="3000" u="none" cap="none" strike="noStrike">
                <a:solidFill>
                  <a:srgbClr val="F6EFE4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@agenciavaidesign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